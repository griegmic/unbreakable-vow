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ff7b2f2d54bcc" /><Relationship Type="http://schemas.openxmlformats.org/officeDocument/2006/relationships/extended-properties" Target="/docProps/app.xml" Id="R45ce5cebe5ea4f69" /><Relationship Type="http://schemas.openxmlformats.org/officeDocument/2006/relationships/officeDocument" Target="/ppt/presentation.xml" Id="R04283658d8ea4b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29cf40a2f64439"/>
  </p:sldMasterIdLst>
  <p:notesMasterIdLst>
    <p:notesMasterId xmlns:r="http://schemas.openxmlformats.org/officeDocument/2006/relationships" r:id="Rb7ca0571070b45d0"/>
  </p:notesMasterIdLst>
  <p:sldIdLst>
    <p:sldId xmlns:r="http://schemas.openxmlformats.org/officeDocument/2006/relationships" id="256" r:id="R5b8038fd9bd144b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9cf40a2f64439" /><Relationship Type="http://schemas.openxmlformats.org/officeDocument/2006/relationships/theme" Target="/ppt/theme/theme1.xml" Id="Rdb78c80e455e475a" /><Relationship Type="http://schemas.openxmlformats.org/officeDocument/2006/relationships/notesMaster" Target="/ppt/notesMasters/notesMaster1.xml" Id="Rb7ca0571070b45d0" /><Relationship Type="http://schemas.openxmlformats.org/officeDocument/2006/relationships/presProps" Target="/ppt/presProps.xml" Id="R41bda4ec5e9f4d2f" /><Relationship Type="http://schemas.openxmlformats.org/officeDocument/2006/relationships/viewProps" Target="/ppt/viewProps.xml" Id="R16bc5c21286141de" /><Relationship Type="http://schemas.openxmlformats.org/officeDocument/2006/relationships/tableStyles" Target="/ppt/tableStyles.xml" Id="Rfd848774759e4097" /><Relationship Type="http://schemas.openxmlformats.org/officeDocument/2006/relationships/slide" Target="/ppt/slides/slide1.xml" Id="R5b8038fd9bd144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39034c116741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4829e935934f29" /><Relationship Type="http://schemas.openxmlformats.org/officeDocument/2006/relationships/notesMaster" Target="/ppt/notesMasters/notesMaster1.xml" Id="Rf34f85a01bdc4b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91fe887bc4e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59294620ad6483b" /><Relationship Type="http://schemas.openxmlformats.org/officeDocument/2006/relationships/slideLayout" Target="/ppt/slideLayouts/slideLayout2.xml" Id="Rb4e7c67069364e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7c67069364e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05b11e728448ff" /><Relationship Type="http://schemas.openxmlformats.org/officeDocument/2006/relationships/notesSlide" Target="/ppt/notesSlides/notesSlide1.xml" Id="R9af874034fbf47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024F078-BAA6-402F-AD8A-241B715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2515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212A"/>
                </a:solidFill>
              </a:defRPr>
            </a:pPr>
            <a:r>
              <a:rPr sz="4350" b="1">
                <a:solidFill>
                  <a:srgbClr val="16212A"/>
                </a:solidFill>
              </a:rPr>
              <a:t>R3VL + Turnkey BYO-wallet flow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8B68CF-87A7-4DBE-B90B-E2406DCA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9639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675"/>
                </a:solidFill>
              </a:defRPr>
            </a:pPr>
            <a:r>
              <a:rPr sz="1875" b="0">
                <a:solidFill>
                  <a:srgbClr val="566675"/>
                </a:solidFill>
              </a:rPr>
              <a:t>Screen-share version: what R3VL owns, what Turnkey enables, and where the wallet signs.</a:t>
            </a:r>
          </a:p>
        </p:txBody>
      </p:sp>
      <p:sp>
        <p:nvSpPr>
          <p:cNvPr id="3" name="headline-chip">
            <a:extLst xmlns:a="http://schemas.openxmlformats.org/drawingml/2006/main">
              <a:ext uri="{FF2B5EF4-FFF2-40B4-BE49-F238E27FC236}">
                <a16:creationId xmlns:a16="http://schemas.microsoft.com/office/drawing/2014/main" id="{06D0422F-46DC-44BA-A088-98EB4C8D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71500"/>
            <a:ext cx="409575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7EE"/>
          </a:solidFill>
          <a:ln xmlns:a="http://schemas.openxmlformats.org/drawingml/2006/main" w="14288">
            <a:solidFill>
              <a:srgbClr val="A8DEC1"/>
            </a:solidFill>
            <a:prstDash val="solid"/>
          </a:ln>
        </p:spPr>
      </p:sp>
      <p:sp>
        <p:nvSpPr>
          <p:cNvPr id="4" name="headline-chip-text">
            <a:extLst xmlns:a="http://schemas.openxmlformats.org/drawingml/2006/main">
              <a:ext uri="{FF2B5EF4-FFF2-40B4-BE49-F238E27FC236}">
                <a16:creationId xmlns:a16="http://schemas.microsoft.com/office/drawing/2014/main" id="{57AC230F-39DB-42A4-AA5C-28CC131C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23900"/>
            <a:ext cx="3562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8E53"/>
                </a:solidFill>
              </a:defRPr>
            </a:pPr>
            <a:r>
              <a:rPr sz="1800" b="1">
                <a:solidFill>
                  <a:srgbClr val="0A8E53"/>
                </a:solidFill>
              </a:rPr>
              <a:t>Direct. Non-custodial. No prefund.</a:t>
            </a:r>
          </a:p>
        </p:txBody>
      </p:sp>
      <p:sp>
        <p:nvSpPr>
          <p:cNvPr id="5" name="blank-corner">
            <a:extLst xmlns:a="http://schemas.openxmlformats.org/drawingml/2006/main">
              <a:ext uri="{FF2B5EF4-FFF2-40B4-BE49-F238E27FC236}">
                <a16:creationId xmlns:a16="http://schemas.microsoft.com/office/drawing/2014/main" id="{3311118C-14A6-48B5-AB7D-5E884E89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2476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tep-header-1">
            <a:extLst xmlns:a="http://schemas.openxmlformats.org/drawingml/2006/main">
              <a:ext uri="{FF2B5EF4-FFF2-40B4-BE49-F238E27FC236}">
                <a16:creationId xmlns:a16="http://schemas.microsoft.com/office/drawing/2014/main" id="{B7C3097F-50B8-4809-85B0-3FC6175C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33525"/>
            <a:ext cx="3467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6F7EE"/>
          </a:solidFill>
          <a:ln xmlns:a="http://schemas.openxmlformats.org/drawingml/2006/main" w="0">
            <a:solidFill>
              <a:srgbClr val="E6F7EE"/>
            </a:solidFill>
            <a:prstDash val="solid"/>
          </a:ln>
        </p:spPr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AE6F7826-AEAB-4A34-8975-72656D2C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58814962-04A6-4764-B11E-F6EDCA92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288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8E53"/>
                </a:solidFill>
              </a:defRPr>
            </a:pPr>
            <a:r>
              <a:rPr sz="1425" b="1">
                <a:solidFill>
                  <a:srgbClr val="0A8E53"/>
                </a:solidFill>
              </a:rPr>
              <a:t>1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6AF05ED9-2B5A-4686-93E2-D7B213A8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76400"/>
            <a:ext cx="2552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8E53"/>
                </a:solidFill>
              </a:defRPr>
            </a:pPr>
            <a:r>
              <a:rPr sz="1875" b="1">
                <a:solidFill>
                  <a:srgbClr val="0A8E53"/>
                </a:solidFill>
              </a:rPr>
              <a:t>User asks in WhatsApp</a:t>
            </a:r>
          </a:p>
        </p:txBody>
      </p:sp>
      <p:sp>
        <p:nvSpPr>
          <p:cNvPr id="10" name="step-header-2">
            <a:extLst xmlns:a="http://schemas.openxmlformats.org/drawingml/2006/main">
              <a:ext uri="{FF2B5EF4-FFF2-40B4-BE49-F238E27FC236}">
                <a16:creationId xmlns:a16="http://schemas.microsoft.com/office/drawing/2014/main" id="{467432CB-5761-47B0-A6FA-FD5D02F6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33525"/>
            <a:ext cx="3467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solidFill>
              <a:srgbClr val="E8EDFF"/>
            </a:solidFill>
            <a:prstDash val="solid"/>
          </a:ln>
        </p:spPr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41BB7CA-64E2-44CA-81F3-4F5935E0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14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FB8A28A0-F1AF-4D9C-A987-56B3F8A8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288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5BFF"/>
                </a:solidFill>
              </a:defRPr>
            </a:pPr>
            <a:r>
              <a:rPr sz="1425" b="1">
                <a:solidFill>
                  <a:srgbClr val="315BFF"/>
                </a:solidFill>
              </a:rPr>
              <a:t>2</a:t>
            </a:r>
          </a:p>
        </p:txBody>
      </p:sp>
      <p:sp>
        <p:nvSpPr>
          <p:cNvPr id="13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8A7B1274-5606-429C-AF3C-44E5E1C1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76400"/>
            <a:ext cx="2552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BFF"/>
                </a:solidFill>
              </a:defRPr>
            </a:pPr>
            <a:r>
              <a:rPr sz="1875" b="1">
                <a:solidFill>
                  <a:srgbClr val="315BFF"/>
                </a:solidFill>
              </a:rPr>
              <a:t>R3VL opens secure session</a:t>
            </a:r>
          </a:p>
        </p:txBody>
      </p:sp>
      <p:sp>
        <p:nvSpPr>
          <p:cNvPr id="14" name="step-header-3">
            <a:extLst xmlns:a="http://schemas.openxmlformats.org/drawingml/2006/main">
              <a:ext uri="{FF2B5EF4-FFF2-40B4-BE49-F238E27FC236}">
                <a16:creationId xmlns:a16="http://schemas.microsoft.com/office/drawing/2014/main" id="{8809887B-955B-4AA3-B66E-64A86FCB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533525"/>
            <a:ext cx="3467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ED"/>
          </a:solidFill>
          <a:ln xmlns:a="http://schemas.openxmlformats.org/drawingml/2006/main" w="0">
            <a:solidFill>
              <a:srgbClr val="FFE8ED"/>
            </a:solidFill>
            <a:prstDash val="solid"/>
          </a:ln>
        </p:spPr>
      </p:sp>
      <p:sp>
        <p:nvSpPr>
          <p:cNvPr id="1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B943331-FF28-41EF-B63A-BB65C16C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676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step-number-text-3">
            <a:extLst xmlns:a="http://schemas.openxmlformats.org/drawingml/2006/main">
              <a:ext uri="{FF2B5EF4-FFF2-40B4-BE49-F238E27FC236}">
                <a16:creationId xmlns:a16="http://schemas.microsoft.com/office/drawing/2014/main" id="{D8B4359F-D714-4C04-95CA-C2EB551D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7907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5334A"/>
                </a:solidFill>
              </a:defRPr>
            </a:pPr>
            <a:r>
              <a:rPr sz="1425" b="1">
                <a:solidFill>
                  <a:srgbClr val="B5334A"/>
                </a:solidFill>
              </a:rPr>
              <a:t>3</a:t>
            </a:r>
          </a:p>
        </p:txBody>
      </p:sp>
      <p:sp>
        <p:nvSpPr>
          <p:cNvPr id="17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97B3D785-CEAB-445F-9176-694411B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771650"/>
            <a:ext cx="255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5334A"/>
                </a:solidFill>
              </a:defRPr>
            </a:pPr>
            <a:r>
              <a:rPr sz="1875" b="1">
                <a:solidFill>
                  <a:srgbClr val="B5334A"/>
                </a:solidFill>
              </a:rPr>
              <a:t>Wallet signs natively</a:t>
            </a:r>
          </a:p>
        </p:txBody>
      </p:sp>
      <p:sp>
        <p:nvSpPr>
          <p:cNvPr id="18" name="step-header-4">
            <a:extLst xmlns:a="http://schemas.openxmlformats.org/drawingml/2006/main">
              <a:ext uri="{FF2B5EF4-FFF2-40B4-BE49-F238E27FC236}">
                <a16:creationId xmlns:a16="http://schemas.microsoft.com/office/drawing/2014/main" id="{69F90E01-AED4-47EE-A4E6-7ED18C3B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533525"/>
            <a:ext cx="3467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F8F6"/>
          </a:solidFill>
          <a:ln xmlns:a="http://schemas.openxmlformats.org/drawingml/2006/main" w="0">
            <a:solidFill>
              <a:srgbClr val="E2F8F6"/>
            </a:solidFill>
            <a:prstDash val="solid"/>
          </a:ln>
        </p:spPr>
      </p:sp>
      <p:sp>
        <p:nvSpPr>
          <p:cNvPr id="19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7E2FF6BC-EED0-4E4D-8009-2BAAE904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1676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step-number-text-4">
            <a:extLst xmlns:a="http://schemas.openxmlformats.org/drawingml/2006/main">
              <a:ext uri="{FF2B5EF4-FFF2-40B4-BE49-F238E27FC236}">
                <a16:creationId xmlns:a16="http://schemas.microsoft.com/office/drawing/2014/main" id="{157F9137-BCC5-4D47-8A30-D986A024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17907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D78"/>
                </a:solidFill>
              </a:defRPr>
            </a:pPr>
            <a:r>
              <a:rPr sz="1425" b="1">
                <a:solidFill>
                  <a:srgbClr val="007D78"/>
                </a:solidFill>
              </a:rPr>
              <a:t>4</a:t>
            </a:r>
          </a:p>
        </p:txBody>
      </p:sp>
      <p:sp>
        <p:nvSpPr>
          <p:cNvPr id="21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8E2B2AFD-1D75-4B72-836D-3B3C6CCC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1771650"/>
            <a:ext cx="255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D78"/>
                </a:solidFill>
              </a:defRPr>
            </a:pPr>
            <a:r>
              <a:rPr sz="1875" b="1">
                <a:solidFill>
                  <a:srgbClr val="007D78"/>
                </a:solidFill>
              </a:rPr>
              <a:t>Funds move directly</a:t>
            </a:r>
          </a:p>
        </p:txBody>
      </p:sp>
      <p:sp>
        <p:nvSpPr>
          <p:cNvPr id="22" name="lane-R3VL owns">
            <a:extLst xmlns:a="http://schemas.openxmlformats.org/drawingml/2006/main">
              <a:ext uri="{FF2B5EF4-FFF2-40B4-BE49-F238E27FC236}">
                <a16:creationId xmlns:a16="http://schemas.microsoft.com/office/drawing/2014/main" id="{061AEBF0-656A-4F62-AF66-E5B596B5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2476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solidFill>
              <a:srgbClr val="E8EDFF"/>
            </a:solidFill>
            <a:prstDash val="solid"/>
          </a:ln>
        </p:spPr>
      </p:sp>
      <p:sp>
        <p:nvSpPr>
          <p:cNvPr id="23" name="lane-title-R3VL owns">
            <a:extLst xmlns:a="http://schemas.openxmlformats.org/drawingml/2006/main">
              <a:ext uri="{FF2B5EF4-FFF2-40B4-BE49-F238E27FC236}">
                <a16:creationId xmlns:a16="http://schemas.microsoft.com/office/drawing/2014/main" id="{74C21987-D8A4-47A7-8DCE-4E4C7194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BFF"/>
                </a:solidFill>
              </a:defRPr>
            </a:pPr>
            <a:r>
              <a:rPr sz="1800" b="1">
                <a:solidFill>
                  <a:srgbClr val="315BFF"/>
                </a:solidFill>
              </a:rPr>
              <a:t>R3VL owns</a:t>
            </a:r>
          </a:p>
        </p:txBody>
      </p:sp>
      <p:sp>
        <p:nvSpPr>
          <p:cNvPr id="24" name="lane-subtitle-R3VL owns">
            <a:extLst xmlns:a="http://schemas.openxmlformats.org/drawingml/2006/main">
              <a:ext uri="{FF2B5EF4-FFF2-40B4-BE49-F238E27FC236}">
                <a16:creationId xmlns:a16="http://schemas.microsoft.com/office/drawing/2014/main" id="{A5C8BC4F-6F74-445A-A25D-3399CA54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75"/>
                </a:solidFill>
              </a:defRPr>
            </a:pPr>
            <a:r>
              <a:rPr sz="1200" b="0">
                <a:solidFill>
                  <a:srgbClr val="566675"/>
                </a:solidFill>
              </a:rPr>
              <a:t>agent + identity + transaction intent</a:t>
            </a:r>
          </a:p>
        </p:txBody>
      </p:sp>
      <p:sp>
        <p:nvSpPr>
          <p:cNvPr id="25" name="r3vl-1">
            <a:extLst xmlns:a="http://schemas.openxmlformats.org/drawingml/2006/main">
              <a:ext uri="{FF2B5EF4-FFF2-40B4-BE49-F238E27FC236}">
                <a16:creationId xmlns:a16="http://schemas.microsoft.com/office/drawing/2014/main" id="{1EE875DC-0157-418F-A76A-0535B2BA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3367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26" name="r3vl-1-text">
            <a:extLst xmlns:a="http://schemas.openxmlformats.org/drawingml/2006/main">
              <a:ext uri="{FF2B5EF4-FFF2-40B4-BE49-F238E27FC236}">
                <a16:creationId xmlns:a16="http://schemas.microsoft.com/office/drawing/2014/main" id="{7B2AD620-6D54-4E11-BF8A-7F6FAB72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3124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A"/>
                </a:solidFill>
              </a:defRPr>
            </a:pPr>
            <a:r>
              <a:rPr sz="1575" b="0">
                <a:solidFill>
                  <a:srgbClr val="16212A"/>
                </a:solidFill>
              </a:rPr>
              <a:t>Receive WhatsApp message and phone identity.</a:t>
            </a:r>
          </a:p>
        </p:txBody>
      </p:sp>
      <p:sp>
        <p:nvSpPr>
          <p:cNvPr id="27" name="r3vl-2">
            <a:extLst xmlns:a="http://schemas.openxmlformats.org/drawingml/2006/main">
              <a:ext uri="{FF2B5EF4-FFF2-40B4-BE49-F238E27FC236}">
                <a16:creationId xmlns:a16="http://schemas.microsoft.com/office/drawing/2014/main" id="{C1E7C03E-07AB-4816-B432-C7D482E5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3367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28" name="r3vl-2-text">
            <a:extLst xmlns:a="http://schemas.openxmlformats.org/drawingml/2006/main">
              <a:ext uri="{FF2B5EF4-FFF2-40B4-BE49-F238E27FC236}">
                <a16:creationId xmlns:a16="http://schemas.microsoft.com/office/drawing/2014/main" id="{124AB028-D204-417F-8A5D-2B82618E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95600"/>
            <a:ext cx="3124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5BFF"/>
                </a:solidFill>
              </a:defRPr>
            </a:pPr>
            <a:r>
              <a:rPr sz="1575" b="1">
                <a:solidFill>
                  <a:srgbClr val="315BFF"/>
                </a:solidFill>
              </a:rPr>
              <a:t>Map phone -&gt; verified wallet/payment ID. Resolve Samuel -&gt; recipient address.</a:t>
            </a:r>
          </a:p>
        </p:txBody>
      </p:sp>
      <p:sp>
        <p:nvSpPr>
          <p:cNvPr id="29" name="r3vl-3">
            <a:extLst xmlns:a="http://schemas.openxmlformats.org/drawingml/2006/main">
              <a:ext uri="{FF2B5EF4-FFF2-40B4-BE49-F238E27FC236}">
                <a16:creationId xmlns:a16="http://schemas.microsoft.com/office/drawing/2014/main" id="{D3B522A1-0421-4314-83DB-392408CE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3367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30" name="r3vl-3-text">
            <a:extLst xmlns:a="http://schemas.openxmlformats.org/drawingml/2006/main">
              <a:ext uri="{FF2B5EF4-FFF2-40B4-BE49-F238E27FC236}">
                <a16:creationId xmlns:a16="http://schemas.microsoft.com/office/drawing/2014/main" id="{354D9CA3-674C-49B5-B4B8-02FDC7A1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95600"/>
            <a:ext cx="3124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A"/>
                </a:solidFill>
              </a:defRPr>
            </a:pPr>
            <a:r>
              <a:rPr sz="1575" b="0">
                <a:solidFill>
                  <a:srgbClr val="16212A"/>
                </a:solidFill>
              </a:rPr>
              <a:t>Present clear transaction details in the R3VL session.</a:t>
            </a:r>
          </a:p>
        </p:txBody>
      </p:sp>
      <p:sp>
        <p:nvSpPr>
          <p:cNvPr id="31" name="r3vl-4">
            <a:extLst xmlns:a="http://schemas.openxmlformats.org/drawingml/2006/main">
              <a:ext uri="{FF2B5EF4-FFF2-40B4-BE49-F238E27FC236}">
                <a16:creationId xmlns:a16="http://schemas.microsoft.com/office/drawing/2014/main" id="{3070A3CF-B14C-4483-9B8B-4F83E8AF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273367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32" name="r3vl-4-text">
            <a:extLst xmlns:a="http://schemas.openxmlformats.org/drawingml/2006/main">
              <a:ext uri="{FF2B5EF4-FFF2-40B4-BE49-F238E27FC236}">
                <a16:creationId xmlns:a16="http://schemas.microsoft.com/office/drawing/2014/main" id="{A10A388A-1BD3-4ABD-AA02-2A3BC66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895600"/>
            <a:ext cx="3124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A"/>
                </a:solidFill>
              </a:defRPr>
            </a:pPr>
            <a:r>
              <a:rPr sz="1575" b="0">
                <a:solidFill>
                  <a:srgbClr val="16212A"/>
                </a:solidFill>
              </a:rPr>
              <a:t>Send status and receipt back to WhatsApp.</a:t>
            </a:r>
          </a:p>
        </p:txBody>
      </p:sp>
      <p:sp>
        <p:nvSpPr>
          <p:cNvPr id="33" name="lane-Turnkey enables">
            <a:extLst xmlns:a="http://schemas.openxmlformats.org/drawingml/2006/main">
              <a:ext uri="{FF2B5EF4-FFF2-40B4-BE49-F238E27FC236}">
                <a16:creationId xmlns:a16="http://schemas.microsoft.com/office/drawing/2014/main" id="{273A95DD-4EA7-44EC-B1E1-826D539B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2476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0CA"/>
          </a:solidFill>
          <a:ln xmlns:a="http://schemas.openxmlformats.org/drawingml/2006/main" w="0">
            <a:solidFill>
              <a:srgbClr val="FFF0CA"/>
            </a:solidFill>
            <a:prstDash val="solid"/>
          </a:ln>
        </p:spPr>
      </p:sp>
      <p:sp>
        <p:nvSpPr>
          <p:cNvPr id="34" name="lane-title-Turnkey enables">
            <a:extLst xmlns:a="http://schemas.openxmlformats.org/drawingml/2006/main">
              <a:ext uri="{FF2B5EF4-FFF2-40B4-BE49-F238E27FC236}">
                <a16:creationId xmlns:a16="http://schemas.microsoft.com/office/drawing/2014/main" id="{E551FD29-7003-4C4F-AC58-55819C78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36800"/>
                </a:solidFill>
              </a:defRPr>
            </a:pPr>
            <a:r>
              <a:rPr sz="1800" b="1">
                <a:solidFill>
                  <a:srgbClr val="A36800"/>
                </a:solidFill>
              </a:rPr>
              <a:t>Turnkey enables</a:t>
            </a:r>
          </a:p>
        </p:txBody>
      </p:sp>
      <p:sp>
        <p:nvSpPr>
          <p:cNvPr id="35" name="lane-subtitle-Turnkey enables">
            <a:extLst xmlns:a="http://schemas.openxmlformats.org/drawingml/2006/main">
              <a:ext uri="{FF2B5EF4-FFF2-40B4-BE49-F238E27FC236}">
                <a16:creationId xmlns:a16="http://schemas.microsoft.com/office/drawing/2014/main" id="{57149F64-71D4-4D9A-975A-231F6097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75"/>
                </a:solidFill>
              </a:defRPr>
            </a:pPr>
            <a:r>
              <a:rPr sz="1200" b="0">
                <a:solidFill>
                  <a:srgbClr val="566675"/>
                </a:solidFill>
              </a:rPr>
              <a:t>external wallet connection + signing helpers</a:t>
            </a:r>
          </a:p>
        </p:txBody>
      </p:sp>
      <p:sp>
        <p:nvSpPr>
          <p:cNvPr id="36" name="tk-1">
            <a:extLst xmlns:a="http://schemas.openxmlformats.org/drawingml/2006/main">
              <a:ext uri="{FF2B5EF4-FFF2-40B4-BE49-F238E27FC236}">
                <a16:creationId xmlns:a16="http://schemas.microsoft.com/office/drawing/2014/main" id="{A3DA5F05-98BE-45E0-95DB-F2F7482B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7672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37" name="tk-1-text">
            <a:extLst xmlns:a="http://schemas.openxmlformats.org/drawingml/2006/main">
              <a:ext uri="{FF2B5EF4-FFF2-40B4-BE49-F238E27FC236}">
                <a16:creationId xmlns:a16="http://schemas.microsoft.com/office/drawing/2014/main" id="{B6BB734E-CE7A-42A4-8EC0-04E74C12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38650"/>
            <a:ext cx="3124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A"/>
                </a:solidFill>
              </a:defRPr>
            </a:pPr>
            <a:r>
              <a:rPr sz="1575" b="0">
                <a:solidFill>
                  <a:srgbClr val="16212A"/>
                </a:solidFill>
              </a:rPr>
              <a:t>No embedded wallet required for the BYO-wallet path.</a:t>
            </a:r>
          </a:p>
        </p:txBody>
      </p:sp>
      <p:sp>
        <p:nvSpPr>
          <p:cNvPr id="38" name="tk-2">
            <a:extLst xmlns:a="http://schemas.openxmlformats.org/drawingml/2006/main">
              <a:ext uri="{FF2B5EF4-FFF2-40B4-BE49-F238E27FC236}">
                <a16:creationId xmlns:a16="http://schemas.microsoft.com/office/drawing/2014/main" id="{A688337A-DE90-40CF-9D2C-A6C8D34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7672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39" name="tk-2-text">
            <a:extLst xmlns:a="http://schemas.openxmlformats.org/drawingml/2006/main">
              <a:ext uri="{FF2B5EF4-FFF2-40B4-BE49-F238E27FC236}">
                <a16:creationId xmlns:a16="http://schemas.microsoft.com/office/drawing/2014/main" id="{CBC209B3-3DCE-4B2B-B8F2-94D899EA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8650"/>
            <a:ext cx="3124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A"/>
                </a:solidFill>
              </a:defRPr>
            </a:pPr>
            <a:r>
              <a:rPr sz="1575" b="0">
                <a:solidFill>
                  <a:srgbClr val="16212A"/>
                </a:solidFill>
              </a:rPr>
              <a:t>Connect MetaMask / WalletConnect and expose connected walletAccount.</a:t>
            </a:r>
          </a:p>
        </p:txBody>
      </p:sp>
      <p:sp>
        <p:nvSpPr>
          <p:cNvPr id="40" name="tk-3">
            <a:extLst xmlns:a="http://schemas.openxmlformats.org/drawingml/2006/main">
              <a:ext uri="{FF2B5EF4-FFF2-40B4-BE49-F238E27FC236}">
                <a16:creationId xmlns:a16="http://schemas.microsoft.com/office/drawing/2014/main" id="{A9794618-B7D1-455B-AB44-6AE4CB45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27672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41" name="tk-3-text">
            <a:extLst xmlns:a="http://schemas.openxmlformats.org/drawingml/2006/main">
              <a:ext uri="{FF2B5EF4-FFF2-40B4-BE49-F238E27FC236}">
                <a16:creationId xmlns:a16="http://schemas.microsoft.com/office/drawing/2014/main" id="{FD7BABCE-F839-428A-88D0-70EA8E9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38650"/>
            <a:ext cx="3124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A"/>
                </a:solidFill>
              </a:defRPr>
            </a:pPr>
            <a:r>
              <a:rPr sz="1575" b="0">
                <a:solidFill>
                  <a:srgbClr val="16212A"/>
                </a:solidFill>
              </a:rPr>
              <a:t>Call signTransaction or signAndSendTransaction with that connected account.</a:t>
            </a:r>
          </a:p>
        </p:txBody>
      </p:sp>
      <p:sp>
        <p:nvSpPr>
          <p:cNvPr id="42" name="tk-4">
            <a:extLst xmlns:a="http://schemas.openxmlformats.org/drawingml/2006/main">
              <a:ext uri="{FF2B5EF4-FFF2-40B4-BE49-F238E27FC236}">
                <a16:creationId xmlns:a16="http://schemas.microsoft.com/office/drawing/2014/main" id="{D7FBBBCF-B88C-4BC6-BBBE-BD79B207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27672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43" name="tk-4-text">
            <a:extLst xmlns:a="http://schemas.openxmlformats.org/drawingml/2006/main">
              <a:ext uri="{FF2B5EF4-FFF2-40B4-BE49-F238E27FC236}">
                <a16:creationId xmlns:a16="http://schemas.microsoft.com/office/drawing/2014/main" id="{2FC48140-AA5D-49B3-B720-EE4DC950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438650"/>
            <a:ext cx="3124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A"/>
                </a:solidFill>
              </a:defRPr>
            </a:pPr>
            <a:r>
              <a:rPr sz="1575" b="0">
                <a:solidFill>
                  <a:srgbClr val="16212A"/>
                </a:solidFill>
              </a:rPr>
              <a:t>No funded Turnkey-managed wallet sits in the middle.</a:t>
            </a:r>
          </a:p>
        </p:txBody>
      </p:sp>
      <p:sp>
        <p:nvSpPr>
          <p:cNvPr id="44" name="lane-Wallet / chain owns">
            <a:extLst xmlns:a="http://schemas.openxmlformats.org/drawingml/2006/main">
              <a:ext uri="{FF2B5EF4-FFF2-40B4-BE49-F238E27FC236}">
                <a16:creationId xmlns:a16="http://schemas.microsoft.com/office/drawing/2014/main" id="{2ACF172F-B9C5-43F0-9461-7F94A535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2476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E8ED"/>
          </a:solidFill>
          <a:ln xmlns:a="http://schemas.openxmlformats.org/drawingml/2006/main" w="0">
            <a:solidFill>
              <a:srgbClr val="FFE8ED"/>
            </a:solidFill>
            <a:prstDash val="solid"/>
          </a:ln>
        </p:spPr>
      </p:sp>
      <p:sp>
        <p:nvSpPr>
          <p:cNvPr id="45" name="lane-title-Wallet / chain owns">
            <a:extLst xmlns:a="http://schemas.openxmlformats.org/drawingml/2006/main">
              <a:ext uri="{FF2B5EF4-FFF2-40B4-BE49-F238E27FC236}">
                <a16:creationId xmlns:a16="http://schemas.microsoft.com/office/drawing/2014/main" id="{4077B9D8-B8DD-4A30-B330-F00605AD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334A"/>
                </a:solidFill>
              </a:defRPr>
            </a:pPr>
            <a:r>
              <a:rPr sz="1800" b="1">
                <a:solidFill>
                  <a:srgbClr val="B5334A"/>
                </a:solidFill>
              </a:rPr>
              <a:t>Wallet / chain owns</a:t>
            </a:r>
          </a:p>
        </p:txBody>
      </p:sp>
      <p:sp>
        <p:nvSpPr>
          <p:cNvPr id="46" name="lane-subtitle-Wallet / chain owns">
            <a:extLst xmlns:a="http://schemas.openxmlformats.org/drawingml/2006/main">
              <a:ext uri="{FF2B5EF4-FFF2-40B4-BE49-F238E27FC236}">
                <a16:creationId xmlns:a16="http://schemas.microsoft.com/office/drawing/2014/main" id="{931AD699-9FC9-4B9A-A63D-6470C0A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151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75"/>
                </a:solidFill>
              </a:defRPr>
            </a:pPr>
            <a:r>
              <a:rPr sz="1200" b="0">
                <a:solidFill>
                  <a:srgbClr val="566675"/>
                </a:solidFill>
              </a:rPr>
              <a:t>confirmation UI + signature + settlement</a:t>
            </a:r>
          </a:p>
        </p:txBody>
      </p:sp>
      <p:sp>
        <p:nvSpPr>
          <p:cNvPr id="47" name="wallet-1">
            <a:extLst xmlns:a="http://schemas.openxmlformats.org/drawingml/2006/main">
              <a:ext uri="{FF2B5EF4-FFF2-40B4-BE49-F238E27FC236}">
                <a16:creationId xmlns:a16="http://schemas.microsoft.com/office/drawing/2014/main" id="{BEB82595-B954-4A27-AB06-4F808BA0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1977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48" name="wallet-1-text">
            <a:extLst xmlns:a="http://schemas.openxmlformats.org/drawingml/2006/main">
              <a:ext uri="{FF2B5EF4-FFF2-40B4-BE49-F238E27FC236}">
                <a16:creationId xmlns:a16="http://schemas.microsoft.com/office/drawing/2014/main" id="{DAA78F27-28DC-4A53-93AF-671FB385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9817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A"/>
                </a:solidFill>
              </a:defRPr>
            </a:pPr>
            <a:r>
              <a:rPr sz="1575" b="0">
                <a:solidFill>
                  <a:srgbClr val="16212A"/>
                </a:solidFill>
              </a:rPr>
              <a:t>User keeps their existing wallet.</a:t>
            </a:r>
          </a:p>
        </p:txBody>
      </p:sp>
      <p:sp>
        <p:nvSpPr>
          <p:cNvPr id="49" name="wallet-2">
            <a:extLst xmlns:a="http://schemas.openxmlformats.org/drawingml/2006/main">
              <a:ext uri="{FF2B5EF4-FFF2-40B4-BE49-F238E27FC236}">
                <a16:creationId xmlns:a16="http://schemas.microsoft.com/office/drawing/2014/main" id="{8D366365-8C3B-44F5-BB38-0E6474B3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1977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50" name="wallet-2-text">
            <a:extLst xmlns:a="http://schemas.openxmlformats.org/drawingml/2006/main">
              <a:ext uri="{FF2B5EF4-FFF2-40B4-BE49-F238E27FC236}">
                <a16:creationId xmlns:a16="http://schemas.microsoft.com/office/drawing/2014/main" id="{A63C5244-BED2-4B4F-A375-C5A6F174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81700"/>
            <a:ext cx="3124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A"/>
                </a:solidFill>
              </a:defRPr>
            </a:pPr>
            <a:r>
              <a:rPr sz="1575" b="0">
                <a:solidFill>
                  <a:srgbClr val="16212A"/>
                </a:solidFill>
              </a:rPr>
              <a:t>Wallet connection happens in a wallet-capable R3VL session.</a:t>
            </a:r>
          </a:p>
        </p:txBody>
      </p:sp>
      <p:sp>
        <p:nvSpPr>
          <p:cNvPr id="51" name="wallet-3">
            <a:extLst xmlns:a="http://schemas.openxmlformats.org/drawingml/2006/main">
              <a:ext uri="{FF2B5EF4-FFF2-40B4-BE49-F238E27FC236}">
                <a16:creationId xmlns:a16="http://schemas.microsoft.com/office/drawing/2014/main" id="{70DCAED9-CD0B-4B17-A59C-574CBAF4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81977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E8ED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52" name="wallet-3-text">
            <a:extLst xmlns:a="http://schemas.openxmlformats.org/drawingml/2006/main">
              <a:ext uri="{FF2B5EF4-FFF2-40B4-BE49-F238E27FC236}">
                <a16:creationId xmlns:a16="http://schemas.microsoft.com/office/drawing/2014/main" id="{16C2DFD9-2E55-4888-8D05-C7800E1E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981700"/>
            <a:ext cx="3124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5334A"/>
                </a:solidFill>
              </a:defRPr>
            </a:pPr>
            <a:r>
              <a:rPr sz="1575" b="1">
                <a:solidFill>
                  <a:srgbClr val="B5334A"/>
                </a:solidFill>
              </a:rPr>
              <a:t>MetaMask / WalletConnect shows the approval UI and collects the signature.</a:t>
            </a:r>
          </a:p>
        </p:txBody>
      </p:sp>
      <p:sp>
        <p:nvSpPr>
          <p:cNvPr id="53" name="wallet-4">
            <a:extLst xmlns:a="http://schemas.openxmlformats.org/drawingml/2006/main">
              <a:ext uri="{FF2B5EF4-FFF2-40B4-BE49-F238E27FC236}">
                <a16:creationId xmlns:a16="http://schemas.microsoft.com/office/drawing/2014/main" id="{F392409F-70DD-4D27-A138-A704866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819775"/>
            <a:ext cx="34671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2F8F6"/>
          </a:solidFill>
          <a:ln xmlns:a="http://schemas.openxmlformats.org/drawingml/2006/main" w="14288">
            <a:solidFill>
              <a:srgbClr val="CFD9E1"/>
            </a:solidFill>
            <a:prstDash val="solid"/>
          </a:ln>
        </p:spPr>
      </p:sp>
      <p:sp>
        <p:nvSpPr>
          <p:cNvPr id="54" name="wallet-4-text">
            <a:extLst xmlns:a="http://schemas.openxmlformats.org/drawingml/2006/main">
              <a:ext uri="{FF2B5EF4-FFF2-40B4-BE49-F238E27FC236}">
                <a16:creationId xmlns:a16="http://schemas.microsoft.com/office/drawing/2014/main" id="{69B7A22E-6E22-4B4E-84BF-E19666DA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981700"/>
            <a:ext cx="3124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D78"/>
                </a:solidFill>
              </a:defRPr>
            </a:pPr>
            <a:r>
              <a:rPr sz="1575" b="1">
                <a:solidFill>
                  <a:srgbClr val="007D78"/>
                </a:solidFill>
              </a:rPr>
              <a:t>Transaction goes user wallet -&gt; recipient address.</a:t>
            </a:r>
          </a:p>
        </p:txBody>
      </p:sp>
      <p:sp>
        <p:nvSpPr>
          <p:cNvPr id="5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FFD9AD0-B459-4668-B627-DA8BC0AA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C7D2DA"/>
            </a:solidFill>
            <a:prstDash val="solid"/>
          </a:ln>
        </p:spPr>
      </p:sp>
      <p:sp>
        <p:nvSpPr>
          <p:cNvPr id="56" name="constraint-chip">
            <a:extLst xmlns:a="http://schemas.openxmlformats.org/drawingml/2006/main">
              <a:ext uri="{FF2B5EF4-FFF2-40B4-BE49-F238E27FC236}">
                <a16:creationId xmlns:a16="http://schemas.microsoft.com/office/drawing/2014/main" id="{67B79AC5-24C7-440C-920A-69A494AA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72450"/>
            <a:ext cx="3162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0CA"/>
          </a:solidFill>
          <a:ln xmlns:a="http://schemas.openxmlformats.org/drawingml/2006/main" w="14288">
            <a:solidFill>
              <a:srgbClr val="EBC56D"/>
            </a:solidFill>
            <a:prstDash val="solid"/>
          </a:ln>
        </p:spPr>
      </p:sp>
      <p:sp>
        <p:nvSpPr>
          <p:cNvPr id="57" name="constraint-chip-text">
            <a:extLst xmlns:a="http://schemas.openxmlformats.org/drawingml/2006/main">
              <a:ext uri="{FF2B5EF4-FFF2-40B4-BE49-F238E27FC236}">
                <a16:creationId xmlns:a16="http://schemas.microsoft.com/office/drawing/2014/main" id="{6A973001-0521-4B8C-9595-671A0015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439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36800"/>
                </a:solidFill>
              </a:defRPr>
            </a:pPr>
            <a:r>
              <a:rPr sz="1875" b="1">
                <a:solidFill>
                  <a:srgbClr val="A36800"/>
                </a:solidFill>
              </a:rPr>
              <a:t>Only real handoff</a:t>
            </a:r>
          </a:p>
        </p:txBody>
      </p:sp>
      <p:sp>
        <p:nvSpPr>
          <p:cNvPr id="58" name="footer-copy">
            <a:extLst xmlns:a="http://schemas.openxmlformats.org/drawingml/2006/main">
              <a:ext uri="{FF2B5EF4-FFF2-40B4-BE49-F238E27FC236}">
                <a16:creationId xmlns:a16="http://schemas.microsoft.com/office/drawing/2014/main" id="{170B6B5C-09F9-44B8-BCF2-D20BD51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267700"/>
            <a:ext cx="1362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12A"/>
                </a:solidFill>
              </a:defRPr>
            </a:pPr>
            <a:r>
              <a:rPr sz="1950" b="0">
                <a:solidFill>
                  <a:srgbClr val="16212A"/>
                </a:solidFill>
              </a:rPr>
              <a:t>WhatsApp starts the flow, but MetaMask / WalletConnect signing needs a secure R3VL web or app session. Everything else maps cleanly to a non-custodial BYO-wallet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266848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2026-04-27T18:24:59.4040000Z</dcterms:created>
  <dcterms:modified xsi:type="dcterms:W3CDTF">2026-04-27T18:24:59.4040000Z</dcterms:modified>
</coreProperties>
</file>