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bd960836dc4287" /><Relationship Type="http://schemas.openxmlformats.org/officeDocument/2006/relationships/extended-properties" Target="/docProps/app.xml" Id="Re193e5f6c8ae4cc9" /><Relationship Type="http://schemas.openxmlformats.org/officeDocument/2006/relationships/officeDocument" Target="/ppt/presentation.xml" Id="R28942a62899742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b7d70a0eb0467f"/>
  </p:sldMasterIdLst>
  <p:notesMasterIdLst>
    <p:notesMasterId xmlns:r="http://schemas.openxmlformats.org/officeDocument/2006/relationships" r:id="R0101a2cdc7bf40ec"/>
  </p:notesMasterIdLst>
  <p:sldIdLst>
    <p:sldId xmlns:r="http://schemas.openxmlformats.org/officeDocument/2006/relationships" id="256" r:id="R8786e94ca276476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7d70a0eb0467f" /><Relationship Type="http://schemas.openxmlformats.org/officeDocument/2006/relationships/theme" Target="/ppt/theme/theme1.xml" Id="Raf1dd16a25014823" /><Relationship Type="http://schemas.openxmlformats.org/officeDocument/2006/relationships/notesMaster" Target="/ppt/notesMasters/notesMaster1.xml" Id="R0101a2cdc7bf40ec" /><Relationship Type="http://schemas.openxmlformats.org/officeDocument/2006/relationships/presProps" Target="/ppt/presProps.xml" Id="R06c6ab36bd644803" /><Relationship Type="http://schemas.openxmlformats.org/officeDocument/2006/relationships/viewProps" Target="/ppt/viewProps.xml" Id="R75d47c9ba57346c5" /><Relationship Type="http://schemas.openxmlformats.org/officeDocument/2006/relationships/tableStyles" Target="/ppt/tableStyles.xml" Id="Rc010af2934174983" /><Relationship Type="http://schemas.openxmlformats.org/officeDocument/2006/relationships/slide" Target="/ppt/slides/slide1.xml" Id="R8786e94ca27647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696acd356549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9e26ceea364334" /><Relationship Type="http://schemas.openxmlformats.org/officeDocument/2006/relationships/notesMaster" Target="/ppt/notesMasters/notesMaster1.xml" Id="R3891606a40bc4d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152aa042941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c4483ce4b234d23" /><Relationship Type="http://schemas.openxmlformats.org/officeDocument/2006/relationships/slideLayout" Target="/ppt/slideLayouts/slideLayout2.xml" Id="R973b8e6933de48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3b8e6933de48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6a347b8e8947f6" /><Relationship Type="http://schemas.openxmlformats.org/officeDocument/2006/relationships/notesSlide" Target="/ppt/notesSlides/notesSlide1.xml" Id="Rf548be7bc33842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C13015E-DCC2-4F61-BE00-08EDD5C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12687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51D24"/>
                </a:solidFill>
              </a:defRPr>
            </a:pPr>
            <a:r>
              <a:rPr sz="4650" b="1">
                <a:solidFill>
                  <a:srgbClr val="151D24"/>
                </a:solidFill>
              </a:rPr>
              <a:t>The short answer for R3VL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65DC64-A3A7-4869-9AD6-8337DFF5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200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7"/>
                </a:solidFill>
              </a:defRPr>
            </a:pPr>
            <a:r>
              <a:rPr sz="1800" b="0">
                <a:solidFill>
                  <a:srgbClr val="596877"/>
                </a:solidFill>
              </a:rPr>
              <a:t>Turnkey can support the wallet-native path they asked for, with one clean implementation detail: WhatsApp initiates, a secure R3VL app session signs.</a:t>
            </a:r>
          </a:p>
        </p:txBody>
      </p:sp>
      <p:sp>
        <p:nvSpPr>
          <p:cNvPr id="3" name="answer-chip">
            <a:extLst xmlns:a="http://schemas.openxmlformats.org/drawingml/2006/main">
              <a:ext uri="{FF2B5EF4-FFF2-40B4-BE49-F238E27FC236}">
                <a16:creationId xmlns:a16="http://schemas.microsoft.com/office/drawing/2014/main" id="{052A9C63-4210-4CFD-8DC0-19017685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1143000"/>
            <a:ext cx="37147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14288">
            <a:solidFill>
              <a:srgbClr val="A9DEC1"/>
            </a:solidFill>
            <a:prstDash val="solid"/>
          </a:ln>
        </p:spPr>
      </p:sp>
      <p:sp>
        <p:nvSpPr>
          <p:cNvPr id="4" name="answer-chip-text">
            <a:extLst xmlns:a="http://schemas.openxmlformats.org/drawingml/2006/main">
              <a:ext uri="{FF2B5EF4-FFF2-40B4-BE49-F238E27FC236}">
                <a16:creationId xmlns:a16="http://schemas.microsoft.com/office/drawing/2014/main" id="{BA541835-3216-4C20-84C0-7B41307A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29540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7A43"/>
                </a:solidFill>
              </a:defRPr>
            </a:pPr>
            <a:r>
              <a:rPr sz="1875" b="1">
                <a:solidFill>
                  <a:srgbClr val="0A7A43"/>
                </a:solidFill>
              </a:rPr>
              <a:t>Yes, without prefunding</a:t>
            </a:r>
          </a:p>
        </p:txBody>
      </p:sp>
      <p:sp>
        <p:nvSpPr>
          <p:cNvPr id="5" name="asked-panel">
            <a:extLst xmlns:a="http://schemas.openxmlformats.org/drawingml/2006/main">
              <a:ext uri="{FF2B5EF4-FFF2-40B4-BE49-F238E27FC236}">
                <a16:creationId xmlns:a16="http://schemas.microsoft.com/office/drawing/2014/main" id="{0EF985BE-4421-4E3D-AD75-5D6FC38D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095750" cy="41910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2DCE3"/>
            </a:solidFill>
            <a:prstDash val="solid"/>
          </a:ln>
        </p:spPr>
      </p:sp>
      <p:sp>
        <p:nvSpPr>
          <p:cNvPr id="6" name="asked-title">
            <a:extLst xmlns:a="http://schemas.openxmlformats.org/drawingml/2006/main">
              <a:ext uri="{FF2B5EF4-FFF2-40B4-BE49-F238E27FC236}">
                <a16:creationId xmlns:a16="http://schemas.microsoft.com/office/drawing/2014/main" id="{C184CFC3-717F-4045-B206-7D4095F0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D24"/>
                </a:solidFill>
              </a:defRPr>
            </a:pPr>
            <a:r>
              <a:rPr sz="2250" b="1">
                <a:solidFill>
                  <a:srgbClr val="151D24"/>
                </a:solidFill>
              </a:rPr>
              <a:t>What they asked for</a:t>
            </a:r>
          </a:p>
        </p:txBody>
      </p:sp>
      <p:sp>
        <p:nvSpPr>
          <p:cNvPr id="7" name="check-mark-Start in WhatsApp">
            <a:extLst xmlns:a="http://schemas.openxmlformats.org/drawingml/2006/main">
              <a:ext uri="{FF2B5EF4-FFF2-40B4-BE49-F238E27FC236}">
                <a16:creationId xmlns:a16="http://schemas.microsoft.com/office/drawing/2014/main" id="{752BD9EA-6698-451D-BC14-E8CA2C4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163"/>
                </a:solidFill>
              </a:defRPr>
            </a:pPr>
            <a:r>
              <a:rPr sz="1650" b="1">
                <a:solidFill>
                  <a:srgbClr val="16A163"/>
                </a:solidFill>
              </a:rPr>
              <a:t>✓</a:t>
            </a:r>
          </a:p>
        </p:txBody>
      </p:sp>
      <p:sp>
        <p:nvSpPr>
          <p:cNvPr id="8" name="check-text-Start in WhatsApp">
            <a:extLst xmlns:a="http://schemas.openxmlformats.org/drawingml/2006/main">
              <a:ext uri="{FF2B5EF4-FFF2-40B4-BE49-F238E27FC236}">
                <a16:creationId xmlns:a16="http://schemas.microsoft.com/office/drawing/2014/main" id="{DF584BD9-FF6E-4E42-869A-281B26FF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D24"/>
                </a:solidFill>
              </a:defRPr>
            </a:pPr>
            <a:r>
              <a:rPr sz="1575" b="0">
                <a:solidFill>
                  <a:srgbClr val="151D24"/>
                </a:solidFill>
              </a:rPr>
              <a:t>Start in WhatsApp</a:t>
            </a:r>
          </a:p>
        </p:txBody>
      </p:sp>
      <p:sp>
        <p:nvSpPr>
          <p:cNvPr id="9" name="check-mark-Use MetaMask or existing wallet">
            <a:extLst xmlns:a="http://schemas.openxmlformats.org/drawingml/2006/main">
              <a:ext uri="{FF2B5EF4-FFF2-40B4-BE49-F238E27FC236}">
                <a16:creationId xmlns:a16="http://schemas.microsoft.com/office/drawing/2014/main" id="{CEE7A6EE-8677-4178-965A-1FFC54C6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163"/>
                </a:solidFill>
              </a:defRPr>
            </a:pPr>
            <a:r>
              <a:rPr sz="1650" b="1">
                <a:solidFill>
                  <a:srgbClr val="16A163"/>
                </a:solidFill>
              </a:rPr>
              <a:t>✓</a:t>
            </a:r>
          </a:p>
        </p:txBody>
      </p:sp>
      <p:sp>
        <p:nvSpPr>
          <p:cNvPr id="10" name="check-text-Use MetaMask or existing wallet">
            <a:extLst xmlns:a="http://schemas.openxmlformats.org/drawingml/2006/main">
              <a:ext uri="{FF2B5EF4-FFF2-40B4-BE49-F238E27FC236}">
                <a16:creationId xmlns:a16="http://schemas.microsoft.com/office/drawing/2014/main" id="{00FBA0A2-436A-4A24-9E60-9A7D3015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D24"/>
                </a:solidFill>
              </a:defRPr>
            </a:pPr>
            <a:r>
              <a:rPr sz="1575" b="0">
                <a:solidFill>
                  <a:srgbClr val="151D24"/>
                </a:solidFill>
              </a:rPr>
              <a:t>Use MetaMask or existing wallet</a:t>
            </a:r>
          </a:p>
        </p:txBody>
      </p:sp>
      <p:sp>
        <p:nvSpPr>
          <p:cNvPr id="11" name="check-mark-Phone number becomes payment ID">
            <a:extLst xmlns:a="http://schemas.openxmlformats.org/drawingml/2006/main">
              <a:ext uri="{FF2B5EF4-FFF2-40B4-BE49-F238E27FC236}">
                <a16:creationId xmlns:a16="http://schemas.microsoft.com/office/drawing/2014/main" id="{C2B33C68-7CAA-4553-890D-6CB7E61D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163"/>
                </a:solidFill>
              </a:defRPr>
            </a:pPr>
            <a:r>
              <a:rPr sz="1650" b="1">
                <a:solidFill>
                  <a:srgbClr val="16A163"/>
                </a:solidFill>
              </a:rPr>
              <a:t>✓</a:t>
            </a:r>
          </a:p>
        </p:txBody>
      </p:sp>
      <p:sp>
        <p:nvSpPr>
          <p:cNvPr id="12" name="check-text-Phone number becomes payment ID">
            <a:extLst xmlns:a="http://schemas.openxmlformats.org/drawingml/2006/main">
              <a:ext uri="{FF2B5EF4-FFF2-40B4-BE49-F238E27FC236}">
                <a16:creationId xmlns:a16="http://schemas.microsoft.com/office/drawing/2014/main" id="{9BDFCE20-ED8F-4877-9D2F-E5096FE5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D24"/>
                </a:solidFill>
              </a:defRPr>
            </a:pPr>
            <a:r>
              <a:rPr sz="1575" b="0">
                <a:solidFill>
                  <a:srgbClr val="151D24"/>
                </a:solidFill>
              </a:rPr>
              <a:t>Phone number becomes payment ID</a:t>
            </a:r>
          </a:p>
        </p:txBody>
      </p:sp>
      <p:sp>
        <p:nvSpPr>
          <p:cNvPr id="13" name="check-mark-Wallet-native confirmation UI">
            <a:extLst xmlns:a="http://schemas.openxmlformats.org/drawingml/2006/main">
              <a:ext uri="{FF2B5EF4-FFF2-40B4-BE49-F238E27FC236}">
                <a16:creationId xmlns:a16="http://schemas.microsoft.com/office/drawing/2014/main" id="{557EC347-3B09-4BA9-BB2A-3B994425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163"/>
                </a:solidFill>
              </a:defRPr>
            </a:pPr>
            <a:r>
              <a:rPr sz="1650" b="1">
                <a:solidFill>
                  <a:srgbClr val="16A163"/>
                </a:solidFill>
              </a:rPr>
              <a:t>✓</a:t>
            </a:r>
          </a:p>
        </p:txBody>
      </p:sp>
      <p:sp>
        <p:nvSpPr>
          <p:cNvPr id="14" name="check-text-Wallet-native confirmation UI">
            <a:extLst xmlns:a="http://schemas.openxmlformats.org/drawingml/2006/main">
              <a:ext uri="{FF2B5EF4-FFF2-40B4-BE49-F238E27FC236}">
                <a16:creationId xmlns:a16="http://schemas.microsoft.com/office/drawing/2014/main" id="{667853F9-CBE1-4264-98AD-6FAF709F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D24"/>
                </a:solidFill>
              </a:defRPr>
            </a:pPr>
            <a:r>
              <a:rPr sz="1575" b="0">
                <a:solidFill>
                  <a:srgbClr val="151D24"/>
                </a:solidFill>
              </a:rPr>
              <a:t>Wallet-native confirmation UI</a:t>
            </a:r>
          </a:p>
        </p:txBody>
      </p:sp>
      <p:sp>
        <p:nvSpPr>
          <p:cNvPr id="15" name="check-mark-Funds go straight to recipient">
            <a:extLst xmlns:a="http://schemas.openxmlformats.org/drawingml/2006/main">
              <a:ext uri="{FF2B5EF4-FFF2-40B4-BE49-F238E27FC236}">
                <a16:creationId xmlns:a16="http://schemas.microsoft.com/office/drawing/2014/main" id="{87852CAF-23F3-4C97-809B-C45CCC53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163"/>
                </a:solidFill>
              </a:defRPr>
            </a:pPr>
            <a:r>
              <a:rPr sz="1650" b="1">
                <a:solidFill>
                  <a:srgbClr val="16A163"/>
                </a:solidFill>
              </a:rPr>
              <a:t>✓</a:t>
            </a:r>
          </a:p>
        </p:txBody>
      </p:sp>
      <p:sp>
        <p:nvSpPr>
          <p:cNvPr id="16" name="check-text-Funds go straight to recipient">
            <a:extLst xmlns:a="http://schemas.openxmlformats.org/drawingml/2006/main">
              <a:ext uri="{FF2B5EF4-FFF2-40B4-BE49-F238E27FC236}">
                <a16:creationId xmlns:a16="http://schemas.microsoft.com/office/drawing/2014/main" id="{5BC7A455-78D0-4902-A103-BB88A83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D24"/>
                </a:solidFill>
              </a:defRPr>
            </a:pPr>
            <a:r>
              <a:rPr sz="1575" b="0">
                <a:solidFill>
                  <a:srgbClr val="151D24"/>
                </a:solidFill>
              </a:rPr>
              <a:t>Funds go straight to recipient</a:t>
            </a:r>
          </a:p>
        </p:txBody>
      </p:sp>
      <p:sp>
        <p:nvSpPr>
          <p:cNvPr id="17" name="check-mark-No prefunding or custody">
            <a:extLst xmlns:a="http://schemas.openxmlformats.org/drawingml/2006/main">
              <a:ext uri="{FF2B5EF4-FFF2-40B4-BE49-F238E27FC236}">
                <a16:creationId xmlns:a16="http://schemas.microsoft.com/office/drawing/2014/main" id="{9CB78A5B-B289-4A05-AFF7-42009F38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163"/>
                </a:solidFill>
              </a:defRPr>
            </a:pPr>
            <a:r>
              <a:rPr sz="1650" b="1">
                <a:solidFill>
                  <a:srgbClr val="16A163"/>
                </a:solidFill>
              </a:rPr>
              <a:t>✓</a:t>
            </a:r>
          </a:p>
        </p:txBody>
      </p:sp>
      <p:sp>
        <p:nvSpPr>
          <p:cNvPr id="18" name="check-text-No prefunding or custody">
            <a:extLst xmlns:a="http://schemas.openxmlformats.org/drawingml/2006/main">
              <a:ext uri="{FF2B5EF4-FFF2-40B4-BE49-F238E27FC236}">
                <a16:creationId xmlns:a16="http://schemas.microsoft.com/office/drawing/2014/main" id="{19C6AED7-2722-40FD-AE14-7175F907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D24"/>
                </a:solidFill>
              </a:defRPr>
            </a:pPr>
            <a:r>
              <a:rPr sz="1575" b="0">
                <a:solidFill>
                  <a:srgbClr val="151D24"/>
                </a:solidFill>
              </a:rPr>
              <a:t>No prefunding or custody</a:t>
            </a:r>
          </a:p>
        </p:txBody>
      </p:sp>
      <p:sp>
        <p:nvSpPr>
          <p:cNvPr id="19" name="path-title">
            <a:extLst xmlns:a="http://schemas.openxmlformats.org/drawingml/2006/main">
              <a:ext uri="{FF2B5EF4-FFF2-40B4-BE49-F238E27FC236}">
                <a16:creationId xmlns:a16="http://schemas.microsoft.com/office/drawing/2014/main" id="{E7302B5D-1B6E-4E4A-8106-67FC899F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24050"/>
            <a:ext cx="3276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D24"/>
                </a:solidFill>
              </a:defRPr>
            </a:pPr>
            <a:r>
              <a:rPr sz="2250" b="1">
                <a:solidFill>
                  <a:srgbClr val="151D24"/>
                </a:solidFill>
              </a:rPr>
              <a:t>Turnkey-supported path</a:t>
            </a:r>
          </a:p>
        </p:txBody>
      </p:sp>
      <p:sp>
        <p:nvSpPr>
          <p:cNvPr id="20" name="path-note">
            <a:extLst xmlns:a="http://schemas.openxmlformats.org/drawingml/2006/main">
              <a:ext uri="{FF2B5EF4-FFF2-40B4-BE49-F238E27FC236}">
                <a16:creationId xmlns:a16="http://schemas.microsoft.com/office/drawing/2014/main" id="{8DDC30DA-80CE-4CAB-AE75-6A2533A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019300"/>
            <a:ext cx="520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7A43"/>
                </a:solidFill>
              </a:defRPr>
            </a:pPr>
            <a:r>
              <a:rPr sz="1425" b="1">
                <a:solidFill>
                  <a:srgbClr val="0A7A43"/>
                </a:solidFill>
              </a:rPr>
              <a:t>No Turnkey-managed wallet required in this BYO-wallet flow</a:t>
            </a:r>
          </a:p>
        </p:txBody>
      </p:sp>
      <p:sp>
        <p:nvSpPr>
          <p:cNvPr id="21" name="step-Chat request">
            <a:extLst xmlns:a="http://schemas.openxmlformats.org/drawingml/2006/main">
              <a:ext uri="{FF2B5EF4-FFF2-40B4-BE49-F238E27FC236}">
                <a16:creationId xmlns:a16="http://schemas.microsoft.com/office/drawing/2014/main" id="{B47F88B7-817B-4558-85AF-ABE1B0FC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62250"/>
            <a:ext cx="24955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163"/>
            </a:solidFill>
            <a:prstDash val="solid"/>
          </a:ln>
        </p:spPr>
      </p:sp>
      <p:sp>
        <p:nvSpPr>
          <p:cNvPr id="22" name="step-eyebrow-wrap-Chat request">
            <a:extLst xmlns:a="http://schemas.openxmlformats.org/drawingml/2006/main">
              <a:ext uri="{FF2B5EF4-FFF2-40B4-BE49-F238E27FC236}">
                <a16:creationId xmlns:a16="http://schemas.microsoft.com/office/drawing/2014/main" id="{95264DA6-72BA-49A0-AB89-25AF3BC7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6096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</p:sp>
      <p:sp>
        <p:nvSpPr>
          <p:cNvPr id="23" name="step-eyebrow-Chat request">
            <a:extLst xmlns:a="http://schemas.openxmlformats.org/drawingml/2006/main">
              <a:ext uri="{FF2B5EF4-FFF2-40B4-BE49-F238E27FC236}">
                <a16:creationId xmlns:a16="http://schemas.microsoft.com/office/drawing/2014/main" id="{9DE4430F-B9A2-4AD6-ADCA-2044990B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60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A163"/>
                </a:solidFill>
              </a:defRPr>
            </a:pPr>
            <a:r>
              <a:rPr sz="1275" b="1">
                <a:solidFill>
                  <a:srgbClr val="16A163"/>
                </a:solidFill>
              </a:rPr>
              <a:t>1</a:t>
            </a:r>
          </a:p>
        </p:txBody>
      </p:sp>
      <p:sp>
        <p:nvSpPr>
          <p:cNvPr id="24" name="step-title-Chat request">
            <a:extLst xmlns:a="http://schemas.openxmlformats.org/drawingml/2006/main">
              <a:ext uri="{FF2B5EF4-FFF2-40B4-BE49-F238E27FC236}">
                <a16:creationId xmlns:a16="http://schemas.microsoft.com/office/drawing/2014/main" id="{A7B78C48-2C0F-4054-B1FC-8759B026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6710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D24"/>
                </a:solidFill>
              </a:defRPr>
            </a:pPr>
            <a:r>
              <a:rPr sz="2025" b="1">
                <a:solidFill>
                  <a:srgbClr val="151D24"/>
                </a:solidFill>
              </a:rPr>
              <a:t>Chat request</a:t>
            </a:r>
          </a:p>
        </p:txBody>
      </p:sp>
      <p:sp>
        <p:nvSpPr>
          <p:cNvPr id="25" name="step-body-Chat request">
            <a:extLst xmlns:a="http://schemas.openxmlformats.org/drawingml/2006/main">
              <a:ext uri="{FF2B5EF4-FFF2-40B4-BE49-F238E27FC236}">
                <a16:creationId xmlns:a16="http://schemas.microsoft.com/office/drawing/2014/main" id="{C8E1E96C-FA32-40E8-8DCF-EC7BA452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2076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877"/>
                </a:solidFill>
              </a:defRPr>
            </a:pPr>
            <a:r>
              <a:rPr sz="1350" b="0">
                <a:solidFill>
                  <a:srgbClr val="596877"/>
                </a:solidFill>
              </a:rPr>
              <a:t>User says: "send Samuel $20" in WhatsApp.</a:t>
            </a:r>
          </a:p>
        </p:txBody>
      </p:sp>
      <p:sp>
        <p:nvSpPr>
          <p:cNvPr id="26" name="arrow-one">
            <a:extLst xmlns:a="http://schemas.openxmlformats.org/drawingml/2006/main">
              <a:ext uri="{FF2B5EF4-FFF2-40B4-BE49-F238E27FC236}">
                <a16:creationId xmlns:a16="http://schemas.microsoft.com/office/drawing/2014/main" id="{8CFFD040-E4DA-4026-B46A-833558DC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19500"/>
            <a:ext cx="51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97B89"/>
                </a:solidFill>
              </a:defRPr>
            </a:pPr>
            <a:r>
              <a:rPr sz="2850" b="1">
                <a:solidFill>
                  <a:srgbClr val="697B89"/>
                </a:solidFill>
              </a:rPr>
              <a:t>→</a:t>
            </a:r>
          </a:p>
        </p:txBody>
      </p:sp>
      <p:sp>
        <p:nvSpPr>
          <p:cNvPr id="27" name="step-R3VL session">
            <a:extLst xmlns:a="http://schemas.openxmlformats.org/drawingml/2006/main">
              <a:ext uri="{FF2B5EF4-FFF2-40B4-BE49-F238E27FC236}">
                <a16:creationId xmlns:a16="http://schemas.microsoft.com/office/drawing/2014/main" id="{4423D5B6-87C4-4241-9D55-ED58CED3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24955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BFF"/>
            </a:solidFill>
            <a:prstDash val="solid"/>
          </a:ln>
        </p:spPr>
      </p:sp>
      <p:sp>
        <p:nvSpPr>
          <p:cNvPr id="28" name="step-eyebrow-wrap-R3VL session">
            <a:extLst xmlns:a="http://schemas.openxmlformats.org/drawingml/2006/main">
              <a:ext uri="{FF2B5EF4-FFF2-40B4-BE49-F238E27FC236}">
                <a16:creationId xmlns:a16="http://schemas.microsoft.com/office/drawing/2014/main" id="{245FB099-40D5-4776-A150-DF59204F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6096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solidFill>
              <a:srgbClr val="E8EDFF"/>
            </a:solidFill>
            <a:prstDash val="solid"/>
          </a:ln>
        </p:spPr>
      </p:sp>
      <p:sp>
        <p:nvSpPr>
          <p:cNvPr id="29" name="step-eyebrow-R3VL session">
            <a:extLst xmlns:a="http://schemas.openxmlformats.org/drawingml/2006/main">
              <a:ext uri="{FF2B5EF4-FFF2-40B4-BE49-F238E27FC236}">
                <a16:creationId xmlns:a16="http://schemas.microsoft.com/office/drawing/2014/main" id="{DAC1A42D-4279-4775-B3F0-A3B78772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60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5BFF"/>
                </a:solidFill>
              </a:defRPr>
            </a:pPr>
            <a:r>
              <a:rPr sz="1275" b="1">
                <a:solidFill>
                  <a:srgbClr val="315BFF"/>
                </a:solidFill>
              </a:rPr>
              <a:t>2</a:t>
            </a:r>
          </a:p>
        </p:txBody>
      </p:sp>
      <p:sp>
        <p:nvSpPr>
          <p:cNvPr id="30" name="step-title-R3VL session">
            <a:extLst xmlns:a="http://schemas.openxmlformats.org/drawingml/2006/main">
              <a:ext uri="{FF2B5EF4-FFF2-40B4-BE49-F238E27FC236}">
                <a16:creationId xmlns:a16="http://schemas.microsoft.com/office/drawing/2014/main" id="{5F727097-4DD7-4F15-A71E-4286FE72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D24"/>
                </a:solidFill>
              </a:defRPr>
            </a:pPr>
            <a:r>
              <a:rPr sz="2025" b="1">
                <a:solidFill>
                  <a:srgbClr val="151D24"/>
                </a:solidFill>
              </a:rPr>
              <a:t>R3VL session</a:t>
            </a:r>
          </a:p>
        </p:txBody>
      </p:sp>
      <p:sp>
        <p:nvSpPr>
          <p:cNvPr id="31" name="step-body-R3VL session">
            <a:extLst xmlns:a="http://schemas.openxmlformats.org/drawingml/2006/main">
              <a:ext uri="{FF2B5EF4-FFF2-40B4-BE49-F238E27FC236}">
                <a16:creationId xmlns:a16="http://schemas.microsoft.com/office/drawing/2014/main" id="{AD36799C-EDE1-46FB-9738-71732516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4810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877"/>
                </a:solidFill>
              </a:defRPr>
            </a:pPr>
            <a:r>
              <a:rPr sz="1350" b="0">
                <a:solidFill>
                  <a:srgbClr val="596877"/>
                </a:solidFill>
              </a:rPr>
              <a:t>Secure app link resolves identity and prepares the transaction.</a:t>
            </a:r>
          </a:p>
        </p:txBody>
      </p:sp>
      <p:sp>
        <p:nvSpPr>
          <p:cNvPr id="32" name="arrow-two">
            <a:extLst xmlns:a="http://schemas.openxmlformats.org/drawingml/2006/main">
              <a:ext uri="{FF2B5EF4-FFF2-40B4-BE49-F238E27FC236}">
                <a16:creationId xmlns:a16="http://schemas.microsoft.com/office/drawing/2014/main" id="{A146DDBE-77C8-4E95-BCB5-6C2AC4BB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0"/>
            <a:ext cx="51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97B89"/>
                </a:solidFill>
              </a:defRPr>
            </a:pPr>
            <a:r>
              <a:rPr sz="2850" b="1">
                <a:solidFill>
                  <a:srgbClr val="697B89"/>
                </a:solidFill>
              </a:rPr>
              <a:t>→</a:t>
            </a:r>
          </a:p>
        </p:txBody>
      </p:sp>
      <p:sp>
        <p:nvSpPr>
          <p:cNvPr id="33" name="step-Wallet signs">
            <a:extLst xmlns:a="http://schemas.openxmlformats.org/drawingml/2006/main">
              <a:ext uri="{FF2B5EF4-FFF2-40B4-BE49-F238E27FC236}">
                <a16:creationId xmlns:a16="http://schemas.microsoft.com/office/drawing/2014/main" id="{D7F4D826-4A60-4AA3-AD9F-FB41ADDD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762250"/>
            <a:ext cx="24955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A3650"/>
            </a:solidFill>
            <a:prstDash val="solid"/>
          </a:ln>
        </p:spPr>
      </p:sp>
      <p:sp>
        <p:nvSpPr>
          <p:cNvPr id="34" name="step-eyebrow-wrap-Wallet signs">
            <a:extLst xmlns:a="http://schemas.openxmlformats.org/drawingml/2006/main">
              <a:ext uri="{FF2B5EF4-FFF2-40B4-BE49-F238E27FC236}">
                <a16:creationId xmlns:a16="http://schemas.microsoft.com/office/drawing/2014/main" id="{B1374FFD-6594-4EF4-BF64-FBEFEB4F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52750"/>
            <a:ext cx="6096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8ED"/>
          </a:solidFill>
          <a:ln xmlns:a="http://schemas.openxmlformats.org/drawingml/2006/main" w="0">
            <a:solidFill>
              <a:srgbClr val="FFE8ED"/>
            </a:solidFill>
            <a:prstDash val="solid"/>
          </a:ln>
        </p:spPr>
      </p:sp>
      <p:sp>
        <p:nvSpPr>
          <p:cNvPr id="35" name="step-eyebrow-Wallet signs">
            <a:extLst xmlns:a="http://schemas.openxmlformats.org/drawingml/2006/main">
              <a:ext uri="{FF2B5EF4-FFF2-40B4-BE49-F238E27FC236}">
                <a16:creationId xmlns:a16="http://schemas.microsoft.com/office/drawing/2014/main" id="{A1A2BE41-27A5-4F73-B443-393B333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67050"/>
            <a:ext cx="60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A3650"/>
                </a:solidFill>
              </a:defRPr>
            </a:pPr>
            <a:r>
              <a:rPr sz="1275" b="1">
                <a:solidFill>
                  <a:srgbClr val="BA3650"/>
                </a:solidFill>
              </a:rPr>
              <a:t>3</a:t>
            </a:r>
          </a:p>
        </p:txBody>
      </p:sp>
      <p:sp>
        <p:nvSpPr>
          <p:cNvPr id="36" name="step-title-Wallet signs">
            <a:extLst xmlns:a="http://schemas.openxmlformats.org/drawingml/2006/main">
              <a:ext uri="{FF2B5EF4-FFF2-40B4-BE49-F238E27FC236}">
                <a16:creationId xmlns:a16="http://schemas.microsoft.com/office/drawing/2014/main" id="{B728411C-DE22-428A-B0C1-61AD9612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D24"/>
                </a:solidFill>
              </a:defRPr>
            </a:pPr>
            <a:r>
              <a:rPr sz="2025" b="1">
                <a:solidFill>
                  <a:srgbClr val="151D24"/>
                </a:solidFill>
              </a:rPr>
              <a:t>Wallet signs</a:t>
            </a:r>
          </a:p>
        </p:txBody>
      </p:sp>
      <p:sp>
        <p:nvSpPr>
          <p:cNvPr id="37" name="step-body-Wallet signs">
            <a:extLst xmlns:a="http://schemas.openxmlformats.org/drawingml/2006/main">
              <a:ext uri="{FF2B5EF4-FFF2-40B4-BE49-F238E27FC236}">
                <a16:creationId xmlns:a16="http://schemas.microsoft.com/office/drawing/2014/main" id="{5756B852-F942-469D-BF27-F4F6657D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4810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877"/>
                </a:solidFill>
              </a:defRPr>
            </a:pPr>
            <a:r>
              <a:rPr sz="1350" b="0">
                <a:solidFill>
                  <a:srgbClr val="596877"/>
                </a:solidFill>
              </a:rPr>
              <a:t>Turnkey routes signing to MetaMask / WalletConnect.</a:t>
            </a:r>
          </a:p>
        </p:txBody>
      </p:sp>
      <p:sp>
        <p:nvSpPr>
          <p:cNvPr id="38" name="arrow-three">
            <a:extLst xmlns:a="http://schemas.openxmlformats.org/drawingml/2006/main">
              <a:ext uri="{FF2B5EF4-FFF2-40B4-BE49-F238E27FC236}">
                <a16:creationId xmlns:a16="http://schemas.microsoft.com/office/drawing/2014/main" id="{AAFA2B69-25CC-4B01-AF87-BAA38442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619500"/>
            <a:ext cx="51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97B89"/>
                </a:solidFill>
              </a:defRPr>
            </a:pPr>
            <a:r>
              <a:rPr sz="2850" b="1">
                <a:solidFill>
                  <a:srgbClr val="697B89"/>
                </a:solidFill>
              </a:rPr>
              <a:t>→</a:t>
            </a:r>
          </a:p>
        </p:txBody>
      </p:sp>
      <p:sp>
        <p:nvSpPr>
          <p:cNvPr id="39" name="step-Direct transfer">
            <a:extLst xmlns:a="http://schemas.openxmlformats.org/drawingml/2006/main">
              <a:ext uri="{FF2B5EF4-FFF2-40B4-BE49-F238E27FC236}">
                <a16:creationId xmlns:a16="http://schemas.microsoft.com/office/drawing/2014/main" id="{FE9B1F63-5002-4050-959B-8C0DDAAD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2762250"/>
            <a:ext cx="24955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C78"/>
            </a:solidFill>
            <a:prstDash val="solid"/>
          </a:ln>
        </p:spPr>
      </p:sp>
      <p:sp>
        <p:nvSpPr>
          <p:cNvPr id="40" name="step-eyebrow-wrap-Direct transfer">
            <a:extLst xmlns:a="http://schemas.openxmlformats.org/drawingml/2006/main">
              <a:ext uri="{FF2B5EF4-FFF2-40B4-BE49-F238E27FC236}">
                <a16:creationId xmlns:a16="http://schemas.microsoft.com/office/drawing/2014/main" id="{FAE28B67-06EA-43FB-9928-0E3604D6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2952750"/>
            <a:ext cx="6096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8F6"/>
          </a:solidFill>
          <a:ln xmlns:a="http://schemas.openxmlformats.org/drawingml/2006/main" w="0">
            <a:solidFill>
              <a:srgbClr val="E4F8F6"/>
            </a:solidFill>
            <a:prstDash val="solid"/>
          </a:ln>
        </p:spPr>
      </p:sp>
      <p:sp>
        <p:nvSpPr>
          <p:cNvPr id="41" name="step-eyebrow-Direct transfer">
            <a:extLst xmlns:a="http://schemas.openxmlformats.org/drawingml/2006/main">
              <a:ext uri="{FF2B5EF4-FFF2-40B4-BE49-F238E27FC236}">
                <a16:creationId xmlns:a16="http://schemas.microsoft.com/office/drawing/2014/main" id="{F775D140-1459-4C60-ACC2-B9F8E98F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067050"/>
            <a:ext cx="60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C78"/>
                </a:solidFill>
              </a:defRPr>
            </a:pPr>
            <a:r>
              <a:rPr sz="1275" b="1">
                <a:solidFill>
                  <a:srgbClr val="007C78"/>
                </a:solidFill>
              </a:rPr>
              <a:t>4</a:t>
            </a:r>
          </a:p>
        </p:txBody>
      </p:sp>
      <p:sp>
        <p:nvSpPr>
          <p:cNvPr id="42" name="step-title-Direct transfer">
            <a:extLst xmlns:a="http://schemas.openxmlformats.org/drawingml/2006/main">
              <a:ext uri="{FF2B5EF4-FFF2-40B4-BE49-F238E27FC236}">
                <a16:creationId xmlns:a16="http://schemas.microsoft.com/office/drawing/2014/main" id="{3A69EEB7-E6BE-4C12-A466-59BE1E1D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6710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D24"/>
                </a:solidFill>
              </a:defRPr>
            </a:pPr>
            <a:r>
              <a:rPr sz="2025" b="1">
                <a:solidFill>
                  <a:srgbClr val="151D24"/>
                </a:solidFill>
              </a:rPr>
              <a:t>Direct transfer</a:t>
            </a:r>
          </a:p>
        </p:txBody>
      </p:sp>
      <p:sp>
        <p:nvSpPr>
          <p:cNvPr id="43" name="step-body-Direct transfer">
            <a:extLst xmlns:a="http://schemas.openxmlformats.org/drawingml/2006/main">
              <a:ext uri="{FF2B5EF4-FFF2-40B4-BE49-F238E27FC236}">
                <a16:creationId xmlns:a16="http://schemas.microsoft.com/office/drawing/2014/main" id="{FE1F1585-F7D0-405A-9C2F-37653001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848100"/>
            <a:ext cx="2076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877"/>
                </a:solidFill>
              </a:defRPr>
            </a:pPr>
            <a:r>
              <a:rPr sz="1350" b="0">
                <a:solidFill>
                  <a:srgbClr val="596877"/>
                </a:solidFill>
              </a:rPr>
              <a:t>User wallet sends directly to the recipient address.</a:t>
            </a:r>
          </a:p>
        </p:txBody>
      </p:sp>
      <p:sp>
        <p:nvSpPr>
          <p:cNvPr id="44" name="constraint">
            <a:extLst xmlns:a="http://schemas.openxmlformats.org/drawingml/2006/main">
              <a:ext uri="{FF2B5EF4-FFF2-40B4-BE49-F238E27FC236}">
                <a16:creationId xmlns:a16="http://schemas.microsoft.com/office/drawing/2014/main" id="{AE18A9FC-9973-4766-B03D-D405CF64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05400"/>
            <a:ext cx="124396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14288">
            <a:solidFill>
              <a:srgbClr val="EEC76F"/>
            </a:solidFill>
            <a:prstDash val="solid"/>
          </a:ln>
        </p:spPr>
      </p:sp>
      <p:sp>
        <p:nvSpPr>
          <p:cNvPr id="45" name="constraint-label">
            <a:extLst xmlns:a="http://schemas.openxmlformats.org/drawingml/2006/main">
              <a:ext uri="{FF2B5EF4-FFF2-40B4-BE49-F238E27FC236}">
                <a16:creationId xmlns:a16="http://schemas.microsoft.com/office/drawing/2014/main" id="{E07B892B-ED0B-49EE-BAFB-AC1775B3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57400"/>
                </a:solidFill>
              </a:defRPr>
            </a:pPr>
            <a:r>
              <a:rPr sz="1575" b="1">
                <a:solidFill>
                  <a:srgbClr val="B57400"/>
                </a:solidFill>
              </a:rPr>
              <a:t>Important constraint</a:t>
            </a:r>
          </a:p>
        </p:txBody>
      </p:sp>
      <p:sp>
        <p:nvSpPr>
          <p:cNvPr id="46" name="constraint-copy">
            <a:extLst xmlns:a="http://schemas.openxmlformats.org/drawingml/2006/main">
              <a:ext uri="{FF2B5EF4-FFF2-40B4-BE49-F238E27FC236}">
                <a16:creationId xmlns:a16="http://schemas.microsoft.com/office/drawing/2014/main" id="{59D8FA6A-0332-4493-B0BC-6F9C59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95900"/>
            <a:ext cx="9544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D24"/>
                </a:solidFill>
              </a:defRPr>
            </a:pPr>
            <a:r>
              <a:rPr sz="1500" b="0">
                <a:solidFill>
                  <a:srgbClr val="151D24"/>
                </a:solidFill>
              </a:rPr>
              <a:t>WhatsApp cannot directly pop MetaMask. The clean pattern is a lightweight R3VL confirmation session where the external wallet connection and signature happen.</a:t>
            </a:r>
          </a:p>
        </p:txBody>
      </p:sp>
      <p:sp>
        <p:nvSpPr>
          <p:cNvPr id="47" name="divider">
            <a:extLst xmlns:a="http://schemas.openxmlformats.org/drawingml/2006/main">
              <a:ext uri="{FF2B5EF4-FFF2-40B4-BE49-F238E27FC236}">
                <a16:creationId xmlns:a16="http://schemas.microsoft.com/office/drawing/2014/main" id="{45457BDD-534E-405F-84DD-80A4A082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62700"/>
            <a:ext cx="1680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solidFill>
              <a:srgbClr val="C4D0D9"/>
            </a:solidFill>
            <a:prstDash val="solid"/>
          </a:ln>
        </p:spPr>
      </p:sp>
      <p:sp>
        <p:nvSpPr>
          <p:cNvPr id="48" name="ownership-R3VL owns">
            <a:extLst xmlns:a="http://schemas.openxmlformats.org/drawingml/2006/main">
              <a:ext uri="{FF2B5EF4-FFF2-40B4-BE49-F238E27FC236}">
                <a16:creationId xmlns:a16="http://schemas.microsoft.com/office/drawing/2014/main" id="{B37EAC3B-94C0-4586-BECA-484E4F94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29400"/>
            <a:ext cx="4071938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solidFill>
              <a:srgbClr val="E8EDFF"/>
            </a:solidFill>
            <a:prstDash val="solid"/>
          </a:ln>
        </p:spPr>
      </p:sp>
      <p:sp>
        <p:nvSpPr>
          <p:cNvPr id="49" name="ownership-label-R3VL owns">
            <a:extLst xmlns:a="http://schemas.openxmlformats.org/drawingml/2006/main">
              <a:ext uri="{FF2B5EF4-FFF2-40B4-BE49-F238E27FC236}">
                <a16:creationId xmlns:a16="http://schemas.microsoft.com/office/drawing/2014/main" id="{BC9D12EC-D99C-41BB-8085-0295491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00850"/>
            <a:ext cx="3657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FF"/>
                </a:solidFill>
              </a:defRPr>
            </a:pPr>
            <a:r>
              <a:rPr sz="1350" b="1">
                <a:solidFill>
                  <a:srgbClr val="315BFF"/>
                </a:solidFill>
              </a:rPr>
              <a:t>R3VL owns</a:t>
            </a:r>
          </a:p>
        </p:txBody>
      </p:sp>
      <p:sp>
        <p:nvSpPr>
          <p:cNvPr id="50" name="ownership-body-R3VL owns">
            <a:extLst xmlns:a="http://schemas.openxmlformats.org/drawingml/2006/main">
              <a:ext uri="{FF2B5EF4-FFF2-40B4-BE49-F238E27FC236}">
                <a16:creationId xmlns:a16="http://schemas.microsoft.com/office/drawing/2014/main" id="{064AF49D-94EF-41AD-BCB8-D9F62FDE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365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877"/>
                </a:solidFill>
              </a:defRPr>
            </a:pPr>
            <a:r>
              <a:rPr sz="1125" b="0">
                <a:solidFill>
                  <a:srgbClr val="596877"/>
                </a:solidFill>
              </a:rPr>
              <a:t>WhatsApp identity, phone-to-wallet mapping, recipient resolution, transaction construction.</a:t>
            </a:r>
          </a:p>
        </p:txBody>
      </p:sp>
      <p:sp>
        <p:nvSpPr>
          <p:cNvPr id="51" name="ownership-Turnkey enables">
            <a:extLst xmlns:a="http://schemas.openxmlformats.org/drawingml/2006/main">
              <a:ext uri="{FF2B5EF4-FFF2-40B4-BE49-F238E27FC236}">
                <a16:creationId xmlns:a16="http://schemas.microsoft.com/office/drawing/2014/main" id="{79DC5C0A-AB23-418A-B22C-3E2F9C29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6629400"/>
            <a:ext cx="4071938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solidFill>
              <a:srgbClr val="FFF1CF"/>
            </a:solidFill>
            <a:prstDash val="solid"/>
          </a:ln>
        </p:spPr>
      </p:sp>
      <p:sp>
        <p:nvSpPr>
          <p:cNvPr id="52" name="ownership-label-Turnkey enables">
            <a:extLst xmlns:a="http://schemas.openxmlformats.org/drawingml/2006/main">
              <a:ext uri="{FF2B5EF4-FFF2-40B4-BE49-F238E27FC236}">
                <a16:creationId xmlns:a16="http://schemas.microsoft.com/office/drawing/2014/main" id="{30479CF3-75DC-4D62-A4AF-961DB8E0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800850"/>
            <a:ext cx="3657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7400"/>
                </a:solidFill>
              </a:defRPr>
            </a:pPr>
            <a:r>
              <a:rPr sz="1350" b="1">
                <a:solidFill>
                  <a:srgbClr val="B57400"/>
                </a:solidFill>
              </a:rPr>
              <a:t>Turnkey enables</a:t>
            </a:r>
          </a:p>
        </p:txBody>
      </p:sp>
      <p:sp>
        <p:nvSpPr>
          <p:cNvPr id="53" name="ownership-body-Turnkey enables">
            <a:extLst xmlns:a="http://schemas.openxmlformats.org/drawingml/2006/main">
              <a:ext uri="{FF2B5EF4-FFF2-40B4-BE49-F238E27FC236}">
                <a16:creationId xmlns:a16="http://schemas.microsoft.com/office/drawing/2014/main" id="{7F9383C8-BD63-4354-B788-A4166D24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029450"/>
            <a:ext cx="365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877"/>
                </a:solidFill>
              </a:defRPr>
            </a:pPr>
            <a:r>
              <a:rPr sz="1125" b="0">
                <a:solidFill>
                  <a:srgbClr val="596877"/>
                </a:solidFill>
              </a:rPr>
              <a:t>External wallet connection state plus signing helpers for connected wallet accounts.</a:t>
            </a:r>
          </a:p>
        </p:txBody>
      </p:sp>
      <p:sp>
        <p:nvSpPr>
          <p:cNvPr id="54" name="ownership-Wallet owns">
            <a:extLst xmlns:a="http://schemas.openxmlformats.org/drawingml/2006/main">
              <a:ext uri="{FF2B5EF4-FFF2-40B4-BE49-F238E27FC236}">
                <a16:creationId xmlns:a16="http://schemas.microsoft.com/office/drawing/2014/main" id="{BC762E8C-5887-4347-9822-7DC3A1F5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629400"/>
            <a:ext cx="4071938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E8ED"/>
          </a:solidFill>
          <a:ln xmlns:a="http://schemas.openxmlformats.org/drawingml/2006/main" w="0">
            <a:solidFill>
              <a:srgbClr val="FFE8ED"/>
            </a:solidFill>
            <a:prstDash val="solid"/>
          </a:ln>
        </p:spPr>
      </p:sp>
      <p:sp>
        <p:nvSpPr>
          <p:cNvPr id="55" name="ownership-label-Wallet owns">
            <a:extLst xmlns:a="http://schemas.openxmlformats.org/drawingml/2006/main">
              <a:ext uri="{FF2B5EF4-FFF2-40B4-BE49-F238E27FC236}">
                <a16:creationId xmlns:a16="http://schemas.microsoft.com/office/drawing/2014/main" id="{14B2FB8D-3D8D-4EC5-B78A-0F160234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800850"/>
            <a:ext cx="3657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A3650"/>
                </a:solidFill>
              </a:defRPr>
            </a:pPr>
            <a:r>
              <a:rPr sz="1350" b="1">
                <a:solidFill>
                  <a:srgbClr val="BA3650"/>
                </a:solidFill>
              </a:rPr>
              <a:t>Wallet owns</a:t>
            </a:r>
          </a:p>
        </p:txBody>
      </p:sp>
      <p:sp>
        <p:nvSpPr>
          <p:cNvPr id="56" name="ownership-body-Wallet owns">
            <a:extLst xmlns:a="http://schemas.openxmlformats.org/drawingml/2006/main">
              <a:ext uri="{FF2B5EF4-FFF2-40B4-BE49-F238E27FC236}">
                <a16:creationId xmlns:a16="http://schemas.microsoft.com/office/drawing/2014/main" id="{A6754532-3241-470C-91B9-C45A2260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029450"/>
            <a:ext cx="365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877"/>
                </a:solidFill>
              </a:defRPr>
            </a:pPr>
            <a:r>
              <a:rPr sz="1125" b="0">
                <a:solidFill>
                  <a:srgbClr val="596877"/>
                </a:solidFill>
              </a:rPr>
              <a:t>Native confirmation UI, signature, and transaction submission from the user's wallet.</a:t>
            </a:r>
          </a:p>
        </p:txBody>
      </p:sp>
      <p:sp>
        <p:nvSpPr>
          <p:cNvPr id="57" name="ownership-Chain sees">
            <a:extLst xmlns:a="http://schemas.openxmlformats.org/drawingml/2006/main">
              <a:ext uri="{FF2B5EF4-FFF2-40B4-BE49-F238E27FC236}">
                <a16:creationId xmlns:a16="http://schemas.microsoft.com/office/drawing/2014/main" id="{2085176D-C899-45FB-AE35-B555ED0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113" y="6629400"/>
            <a:ext cx="4071938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4F8F6"/>
          </a:solidFill>
          <a:ln xmlns:a="http://schemas.openxmlformats.org/drawingml/2006/main" w="0">
            <a:solidFill>
              <a:srgbClr val="E4F8F6"/>
            </a:solidFill>
            <a:prstDash val="solid"/>
          </a:ln>
        </p:spPr>
      </p:sp>
      <p:sp>
        <p:nvSpPr>
          <p:cNvPr id="58" name="ownership-label-Chain sees">
            <a:extLst xmlns:a="http://schemas.openxmlformats.org/drawingml/2006/main">
              <a:ext uri="{FF2B5EF4-FFF2-40B4-BE49-F238E27FC236}">
                <a16:creationId xmlns:a16="http://schemas.microsoft.com/office/drawing/2014/main" id="{1EF6C850-D4D5-40A6-B50E-A49DE6AC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6800850"/>
            <a:ext cx="3657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78"/>
                </a:solidFill>
              </a:defRPr>
            </a:pPr>
            <a:r>
              <a:rPr sz="1350" b="1">
                <a:solidFill>
                  <a:srgbClr val="007C78"/>
                </a:solidFill>
              </a:rPr>
              <a:t>Chain sees</a:t>
            </a:r>
          </a:p>
        </p:txBody>
      </p:sp>
      <p:sp>
        <p:nvSpPr>
          <p:cNvPr id="59" name="ownership-body-Chain sees">
            <a:extLst xmlns:a="http://schemas.openxmlformats.org/drawingml/2006/main">
              <a:ext uri="{FF2B5EF4-FFF2-40B4-BE49-F238E27FC236}">
                <a16:creationId xmlns:a16="http://schemas.microsoft.com/office/drawing/2014/main" id="{C4DCF065-8451-4C32-B6DC-406FA73B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7029450"/>
            <a:ext cx="365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877"/>
                </a:solidFill>
              </a:defRPr>
            </a:pPr>
            <a:r>
              <a:rPr sz="1125" b="0">
                <a:solidFill>
                  <a:srgbClr val="596877"/>
                </a:solidFill>
              </a:rPr>
              <a:t>A direct wallet-to-recipient transaction. No intermediate funded wallet in the path.</a:t>
            </a:r>
          </a:p>
        </p:txBody>
      </p:sp>
    </p:spTree>
    <p:extLst>
      <p:ext uri="{BB962C8B-B14F-4D97-AF65-F5344CB8AC3E}">
        <p14:creationId xmlns:p14="http://schemas.microsoft.com/office/powerpoint/2010/main" val="770960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2026-04-27T18:12:34.9870000Z</dcterms:created>
  <dcterms:modified xsi:type="dcterms:W3CDTF">2026-04-27T18:12:34.9920000Z</dcterms:modified>
</coreProperties>
</file>