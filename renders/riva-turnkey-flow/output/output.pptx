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c09da98f7a4be0" /><Relationship Type="http://schemas.openxmlformats.org/officeDocument/2006/relationships/extended-properties" Target="/docProps/app.xml" Id="R9f64a678911c4077" /><Relationship Type="http://schemas.openxmlformats.org/officeDocument/2006/relationships/officeDocument" Target="/ppt/presentation.xml" Id="R4e2033bee92840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e2b89b1c544d77"/>
  </p:sldMasterIdLst>
  <p:notesMasterIdLst>
    <p:notesMasterId xmlns:r="http://schemas.openxmlformats.org/officeDocument/2006/relationships" r:id="R74192eb85c5746d1"/>
  </p:notesMasterIdLst>
  <p:sldIdLst>
    <p:sldId xmlns:r="http://schemas.openxmlformats.org/officeDocument/2006/relationships" id="256" r:id="Rd8f01219434f469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2b89b1c544d77" /><Relationship Type="http://schemas.openxmlformats.org/officeDocument/2006/relationships/theme" Target="/ppt/theme/theme1.xml" Id="R7aec8b9dc3a443f6" /><Relationship Type="http://schemas.openxmlformats.org/officeDocument/2006/relationships/notesMaster" Target="/ppt/notesMasters/notesMaster1.xml" Id="R74192eb85c5746d1" /><Relationship Type="http://schemas.openxmlformats.org/officeDocument/2006/relationships/presProps" Target="/ppt/presProps.xml" Id="R5d85dc547e234be5" /><Relationship Type="http://schemas.openxmlformats.org/officeDocument/2006/relationships/viewProps" Target="/ppt/viewProps.xml" Id="Rb6379c43f81b41a8" /><Relationship Type="http://schemas.openxmlformats.org/officeDocument/2006/relationships/tableStyles" Target="/ppt/tableStyles.xml" Id="R25de6ca5b4fc46aa" /><Relationship Type="http://schemas.openxmlformats.org/officeDocument/2006/relationships/slide" Target="/ppt/slides/slide1.xml" Id="Rd8f01219434f46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262c0c4198748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ea513119a148f9" /><Relationship Type="http://schemas.openxmlformats.org/officeDocument/2006/relationships/notesMaster" Target="/ppt/notesMasters/notesMaster1.xml" Id="R61218da399fb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32f8ff911414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35010f9e5bb4c10" /><Relationship Type="http://schemas.openxmlformats.org/officeDocument/2006/relationships/slideLayout" Target="/ppt/slideLayouts/slideLayout2.xml" Id="R6332161c9a0e46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32161c9a0e46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58582c48724002" /><Relationship Type="http://schemas.openxmlformats.org/officeDocument/2006/relationships/notesSlide" Target="/ppt/notesSlides/notesSlide1.xml" Id="R393ab9438aee46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DAF4F2-87EA-4791-9166-7E1C1C73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E"/>
          </a:solidFill>
          <a:ln xmlns:a="http://schemas.openxmlformats.org/drawingml/2006/main" w="0">
            <a:solidFill>
              <a:srgbClr val="F7F5EE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EF1068-7732-4C56-96BD-D639E47D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248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2B"/>
                </a:solidFill>
              </a:defRPr>
            </a:pPr>
            <a:r>
              <a:rPr sz="4350" b="1">
                <a:solidFill>
                  <a:srgbClr val="17212B"/>
                </a:solidFill>
              </a:rPr>
              <a:t>Riva's ideal wallet-native payment flow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5744F2-2171-40C6-8C27-6540482D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2172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6B78"/>
                </a:solidFill>
              </a:defRPr>
            </a:pPr>
            <a:r>
              <a:rPr sz="1875">
                <a:solidFill>
                  <a:srgbClr val="5D6B78"/>
                </a:solidFill>
              </a:rPr>
              <a:t>WhatsApp starts the request. Turnkey connects the user's existing wallet. MetaMask signs. Funds move directly to the recipient.</a:t>
            </a:r>
          </a:p>
        </p:txBody>
      </p:sp>
      <p:sp>
        <p:nvSpPr>
          <p:cNvPr id="4" name="trust-chip">
            <a:extLst xmlns:a="http://schemas.openxmlformats.org/drawingml/2006/main">
              <a:ext uri="{FF2B5EF4-FFF2-40B4-BE49-F238E27FC236}">
                <a16:creationId xmlns:a16="http://schemas.microsoft.com/office/drawing/2014/main" id="{9D29DF79-1EFA-44CB-BA00-6B30191E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1162050"/>
            <a:ext cx="32194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14288">
            <a:solidFill>
              <a:srgbClr val="B9E8CC"/>
            </a:solidFill>
            <a:prstDash val="solid"/>
          </a:ln>
        </p:spPr>
      </p:sp>
      <p:sp>
        <p:nvSpPr>
          <p:cNvPr id="5" name="trust-chip-text">
            <a:extLst xmlns:a="http://schemas.openxmlformats.org/drawingml/2006/main">
              <a:ext uri="{FF2B5EF4-FFF2-40B4-BE49-F238E27FC236}">
                <a16:creationId xmlns:a16="http://schemas.microsoft.com/office/drawing/2014/main" id="{38CD988C-984F-4DCD-B3C3-40EE2F32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131445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E7E46"/>
                </a:solidFill>
              </a:defRPr>
            </a:pPr>
            <a:r>
              <a:rPr sz="1875" b="1">
                <a:solidFill>
                  <a:srgbClr val="0E7E46"/>
                </a:solidFill>
              </a:rPr>
              <a:t>No prefund. No custody.</a:t>
            </a:r>
          </a:p>
        </p:txBody>
      </p:sp>
      <p:sp>
        <p:nvSpPr>
          <p:cNvPr id="6" name="step-whatsapp">
            <a:extLst xmlns:a="http://schemas.openxmlformats.org/drawingml/2006/main">
              <a:ext uri="{FF2B5EF4-FFF2-40B4-BE49-F238E27FC236}">
                <a16:creationId xmlns:a16="http://schemas.microsoft.com/office/drawing/2014/main" id="{5135E06B-D1B2-4AC9-9D65-907A4DD6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190750"/>
            <a:ext cx="2343150" cy="2705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E8CE"/>
            </a:solidFill>
            <a:prstDash val="solid"/>
          </a:ln>
        </p:spPr>
      </p:sp>
      <p:sp>
        <p:nvSpPr>
          <p:cNvPr id="7" name="badge-W">
            <a:extLst xmlns:a="http://schemas.openxmlformats.org/drawingml/2006/main">
              <a:ext uri="{FF2B5EF4-FFF2-40B4-BE49-F238E27FC236}">
                <a16:creationId xmlns:a16="http://schemas.microsoft.com/office/drawing/2014/main" id="{DB29CAF2-FE9C-4539-9E32-476889FC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03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EF"/>
          </a:solidFill>
          <a:ln xmlns:a="http://schemas.openxmlformats.org/drawingml/2006/main" w="0">
            <a:solidFill>
              <a:srgbClr val="E9F8EF"/>
            </a:solidFill>
            <a:prstDash val="solid"/>
          </a:ln>
        </p:spPr>
      </p:sp>
      <p:sp>
        <p:nvSpPr>
          <p:cNvPr id="8" name="badge-text-W">
            <a:extLst xmlns:a="http://schemas.openxmlformats.org/drawingml/2006/main">
              <a:ext uri="{FF2B5EF4-FFF2-40B4-BE49-F238E27FC236}">
                <a16:creationId xmlns:a16="http://schemas.microsoft.com/office/drawing/2014/main" id="{0517E83D-F92A-47EA-9CF7-82F4A970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098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8A4F"/>
                </a:solidFill>
              </a:defRPr>
            </a:pPr>
            <a:r>
              <a:rPr sz="1500" b="1">
                <a:solidFill>
                  <a:srgbClr val="0E8A4F"/>
                </a:solidFill>
              </a:rPr>
              <a:t>W</a:t>
            </a:r>
          </a:p>
        </p:txBody>
      </p:sp>
      <p:sp>
        <p:nvSpPr>
          <p:cNvPr id="9" name="step-whatsapp-title">
            <a:extLst xmlns:a="http://schemas.openxmlformats.org/drawingml/2006/main">
              <a:ext uri="{FF2B5EF4-FFF2-40B4-BE49-F238E27FC236}">
                <a16:creationId xmlns:a16="http://schemas.microsoft.com/office/drawing/2014/main" id="{0174DB7C-7909-4879-8D34-D5DA4F86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623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12B"/>
                </a:solidFill>
              </a:defRPr>
            </a:pPr>
            <a:r>
              <a:rPr sz="2175" b="1">
                <a:solidFill>
                  <a:srgbClr val="17212B"/>
                </a:solidFill>
              </a:rPr>
              <a:t>Chat starts</a:t>
            </a:r>
          </a:p>
        </p:txBody>
      </p:sp>
      <p:sp>
        <p:nvSpPr>
          <p:cNvPr id="10" name="step-whatsapp-body">
            <a:extLst xmlns:a="http://schemas.openxmlformats.org/drawingml/2006/main">
              <a:ext uri="{FF2B5EF4-FFF2-40B4-BE49-F238E27FC236}">
                <a16:creationId xmlns:a16="http://schemas.microsoft.com/office/drawing/2014/main" id="{89D9B902-1F92-4FE7-9909-FF6B7A2F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8140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8"/>
                </a:solidFill>
              </a:defRPr>
            </a:pPr>
            <a:r>
              <a:rPr sz="1350">
                <a:solidFill>
                  <a:srgbClr val="5D6B78"/>
                </a:solidFill>
              </a:rPr>
              <a:t>"Hey Riva, send Samuel $20."</a:t>
            </a:r>
          </a:p>
        </p:txBody>
      </p:sp>
      <p:sp>
        <p:nvSpPr>
          <p:cNvPr id="11" name="arrow-mark-one">
            <a:extLst xmlns:a="http://schemas.openxmlformats.org/drawingml/2006/main">
              <a:ext uri="{FF2B5EF4-FFF2-40B4-BE49-F238E27FC236}">
                <a16:creationId xmlns:a16="http://schemas.microsoft.com/office/drawing/2014/main" id="{DB51580E-5F2B-40E5-AF1D-C915829A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099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C7D8A"/>
                </a:solidFill>
              </a:defRPr>
            </a:pPr>
            <a:r>
              <a:rPr sz="2250" b="1">
                <a:solidFill>
                  <a:srgbClr val="6C7D8A"/>
                </a:solidFill>
              </a:rPr>
              <a:t>-&gt;</a:t>
            </a:r>
          </a:p>
        </p:txBody>
      </p:sp>
      <p:sp>
        <p:nvSpPr>
          <p:cNvPr id="12" name="step-riva">
            <a:extLst xmlns:a="http://schemas.openxmlformats.org/drawingml/2006/main">
              <a:ext uri="{FF2B5EF4-FFF2-40B4-BE49-F238E27FC236}">
                <a16:creationId xmlns:a16="http://schemas.microsoft.com/office/drawing/2014/main" id="{70D69531-23B5-434A-8864-3D65C2DB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2343150" cy="2705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D6FF"/>
            </a:solidFill>
            <a:prstDash val="solid"/>
          </a:ln>
        </p:spPr>
      </p:sp>
      <p:sp>
        <p:nvSpPr>
          <p:cNvPr id="13" name="badge-R">
            <a:extLst xmlns:a="http://schemas.openxmlformats.org/drawingml/2006/main">
              <a:ext uri="{FF2B5EF4-FFF2-40B4-BE49-F238E27FC236}">
                <a16:creationId xmlns:a16="http://schemas.microsoft.com/office/drawing/2014/main" id="{256FAA02-37D9-42A4-854E-32DA1D3A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03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  <a:prstDash val="solid"/>
          </a:ln>
        </p:spPr>
      </p:sp>
      <p:sp>
        <p:nvSpPr>
          <p:cNvPr id="14" name="badge-text-R">
            <a:extLst xmlns:a="http://schemas.openxmlformats.org/drawingml/2006/main">
              <a:ext uri="{FF2B5EF4-FFF2-40B4-BE49-F238E27FC236}">
                <a16:creationId xmlns:a16="http://schemas.microsoft.com/office/drawing/2014/main" id="{A83D9A18-33B5-476A-B44D-41C21E3F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98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56CFF"/>
                </a:solidFill>
              </a:defRPr>
            </a:pPr>
            <a:r>
              <a:rPr sz="1500" b="1">
                <a:solidFill>
                  <a:srgbClr val="356CFF"/>
                </a:solidFill>
              </a:rPr>
              <a:t>R</a:t>
            </a:r>
          </a:p>
        </p:txBody>
      </p:sp>
      <p:sp>
        <p:nvSpPr>
          <p:cNvPr id="15" name="step-riva-title">
            <a:extLst xmlns:a="http://schemas.openxmlformats.org/drawingml/2006/main">
              <a:ext uri="{FF2B5EF4-FFF2-40B4-BE49-F238E27FC236}">
                <a16:creationId xmlns:a16="http://schemas.microsoft.com/office/drawing/2014/main" id="{6A3DA2AD-735C-47D0-B272-33F52241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623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12B"/>
                </a:solidFill>
              </a:defRPr>
            </a:pPr>
            <a:r>
              <a:rPr sz="2175" b="1">
                <a:solidFill>
                  <a:srgbClr val="17212B"/>
                </a:solidFill>
              </a:rPr>
              <a:t>Riva resolves</a:t>
            </a:r>
          </a:p>
        </p:txBody>
      </p:sp>
      <p:sp>
        <p:nvSpPr>
          <p:cNvPr id="16" name="step-riva-body">
            <a:extLst xmlns:a="http://schemas.openxmlformats.org/drawingml/2006/main">
              <a:ext uri="{FF2B5EF4-FFF2-40B4-BE49-F238E27FC236}">
                <a16:creationId xmlns:a16="http://schemas.microsoft.com/office/drawing/2014/main" id="{A806E694-AA6A-4F23-A758-E29F9A04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81400"/>
            <a:ext cx="1905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8"/>
                </a:solidFill>
              </a:defRPr>
            </a:pPr>
            <a:r>
              <a:rPr sz="1350">
                <a:solidFill>
                  <a:srgbClr val="5D6B78"/>
                </a:solidFill>
              </a:rPr>
              <a:t>Phone identity, payment intent, and recipient address.</a:t>
            </a:r>
          </a:p>
        </p:txBody>
      </p:sp>
      <p:sp>
        <p:nvSpPr>
          <p:cNvPr id="17" name="arrow-mark-two">
            <a:extLst xmlns:a="http://schemas.openxmlformats.org/drawingml/2006/main">
              <a:ext uri="{FF2B5EF4-FFF2-40B4-BE49-F238E27FC236}">
                <a16:creationId xmlns:a16="http://schemas.microsoft.com/office/drawing/2014/main" id="{D40850EE-47FB-4465-B8C3-3BE1CB5C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C7D8A"/>
                </a:solidFill>
              </a:defRPr>
            </a:pPr>
            <a:r>
              <a:rPr sz="2250" b="1">
                <a:solidFill>
                  <a:srgbClr val="6C7D8A"/>
                </a:solidFill>
              </a:rPr>
              <a:t>-&gt;</a:t>
            </a:r>
          </a:p>
        </p:txBody>
      </p:sp>
      <p:sp>
        <p:nvSpPr>
          <p:cNvPr id="18" name="step-turnkey">
            <a:extLst xmlns:a="http://schemas.openxmlformats.org/drawingml/2006/main">
              <a:ext uri="{FF2B5EF4-FFF2-40B4-BE49-F238E27FC236}">
                <a16:creationId xmlns:a16="http://schemas.microsoft.com/office/drawing/2014/main" id="{5191ADD1-E9C2-43C0-B864-4AD65FED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90750"/>
            <a:ext cx="2343150" cy="2705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6D68A"/>
            </a:solidFill>
            <a:prstDash val="solid"/>
          </a:ln>
        </p:spPr>
      </p:sp>
      <p:sp>
        <p:nvSpPr>
          <p:cNvPr id="19" name="badge-TK">
            <a:extLst xmlns:a="http://schemas.openxmlformats.org/drawingml/2006/main">
              <a:ext uri="{FF2B5EF4-FFF2-40B4-BE49-F238E27FC236}">
                <a16:creationId xmlns:a16="http://schemas.microsoft.com/office/drawing/2014/main" id="{FB8B9074-BCC6-404B-AAF6-A1815587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0">
            <a:solidFill>
              <a:srgbClr val="FFF4D9"/>
            </a:solidFill>
            <a:prstDash val="solid"/>
          </a:ln>
        </p:spPr>
      </p:sp>
      <p:sp>
        <p:nvSpPr>
          <p:cNvPr id="20" name="badge-text-TK">
            <a:extLst xmlns:a="http://schemas.openxmlformats.org/drawingml/2006/main">
              <a:ext uri="{FF2B5EF4-FFF2-40B4-BE49-F238E27FC236}">
                <a16:creationId xmlns:a16="http://schemas.microsoft.com/office/drawing/2014/main" id="{F4837ACC-6F56-4635-A19F-7500FDEF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56B00"/>
                </a:solidFill>
              </a:defRPr>
            </a:pPr>
            <a:r>
              <a:rPr sz="1500" b="1">
                <a:solidFill>
                  <a:srgbClr val="A56B00"/>
                </a:solidFill>
              </a:rPr>
              <a:t>TK</a:t>
            </a:r>
          </a:p>
        </p:txBody>
      </p:sp>
      <p:sp>
        <p:nvSpPr>
          <p:cNvPr id="21" name="step-turnkey-title">
            <a:extLst xmlns:a="http://schemas.openxmlformats.org/drawingml/2006/main">
              <a:ext uri="{FF2B5EF4-FFF2-40B4-BE49-F238E27FC236}">
                <a16:creationId xmlns:a16="http://schemas.microsoft.com/office/drawing/2014/main" id="{3074082B-54FB-4840-B7B0-AB98A15D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12B"/>
                </a:solidFill>
              </a:defRPr>
            </a:pPr>
            <a:r>
              <a:rPr sz="2175" b="1">
                <a:solidFill>
                  <a:srgbClr val="17212B"/>
                </a:solidFill>
              </a:rPr>
              <a:t>Wallet linked</a:t>
            </a:r>
          </a:p>
        </p:txBody>
      </p:sp>
      <p:sp>
        <p:nvSpPr>
          <p:cNvPr id="22" name="step-turnkey-body">
            <a:extLst xmlns:a="http://schemas.openxmlformats.org/drawingml/2006/main">
              <a:ext uri="{FF2B5EF4-FFF2-40B4-BE49-F238E27FC236}">
                <a16:creationId xmlns:a16="http://schemas.microsoft.com/office/drawing/2014/main" id="{2E33304F-9B46-43FF-875E-151D0700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1905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8"/>
                </a:solidFill>
              </a:defRPr>
            </a:pPr>
            <a:r>
              <a:rPr sz="1350">
                <a:solidFill>
                  <a:srgbClr val="5D6B78"/>
                </a:solidFill>
              </a:rPr>
              <a:t>Turnkey surfaces the connected external wallet account.</a:t>
            </a:r>
          </a:p>
        </p:txBody>
      </p:sp>
      <p:sp>
        <p:nvSpPr>
          <p:cNvPr id="23" name="arrow-mark-three">
            <a:extLst xmlns:a="http://schemas.openxmlformats.org/drawingml/2006/main">
              <a:ext uri="{FF2B5EF4-FFF2-40B4-BE49-F238E27FC236}">
                <a16:creationId xmlns:a16="http://schemas.microsoft.com/office/drawing/2014/main" id="{089135F4-4CC7-47C6-AF28-CE33AEC4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099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C7D8A"/>
                </a:solidFill>
              </a:defRPr>
            </a:pPr>
            <a:r>
              <a:rPr sz="2250" b="1">
                <a:solidFill>
                  <a:srgbClr val="6C7D8A"/>
                </a:solidFill>
              </a:rPr>
              <a:t>-&gt;</a:t>
            </a:r>
          </a:p>
        </p:txBody>
      </p:sp>
      <p:sp>
        <p:nvSpPr>
          <p:cNvPr id="24" name="step-metamask">
            <a:extLst xmlns:a="http://schemas.openxmlformats.org/drawingml/2006/main">
              <a:ext uri="{FF2B5EF4-FFF2-40B4-BE49-F238E27FC236}">
                <a16:creationId xmlns:a16="http://schemas.microsoft.com/office/drawing/2014/main" id="{2C098978-9AE1-49AF-90D8-863CB943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190750"/>
            <a:ext cx="2343150" cy="2705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B9C4"/>
            </a:solidFill>
            <a:prstDash val="solid"/>
          </a:ln>
        </p:spPr>
      </p:sp>
      <p:sp>
        <p:nvSpPr>
          <p:cNvPr id="25" name="badge-M">
            <a:extLst xmlns:a="http://schemas.openxmlformats.org/drawingml/2006/main">
              <a:ext uri="{FF2B5EF4-FFF2-40B4-BE49-F238E27FC236}">
                <a16:creationId xmlns:a16="http://schemas.microsoft.com/office/drawing/2014/main" id="{F2BDC520-81EC-4E0F-A733-BF4267E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4003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0">
            <a:solidFill>
              <a:srgbClr val="FFECEF"/>
            </a:solidFill>
            <a:prstDash val="solid"/>
          </a:ln>
        </p:spPr>
      </p:sp>
      <p:sp>
        <p:nvSpPr>
          <p:cNvPr id="26" name="badge-text-M">
            <a:extLst xmlns:a="http://schemas.openxmlformats.org/drawingml/2006/main">
              <a:ext uri="{FF2B5EF4-FFF2-40B4-BE49-F238E27FC236}">
                <a16:creationId xmlns:a16="http://schemas.microsoft.com/office/drawing/2014/main" id="{6D8A5B7C-B4DD-472E-9ED1-F79FDC5E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6098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324B"/>
                </a:solidFill>
              </a:defRPr>
            </a:pPr>
            <a:r>
              <a:rPr sz="1500" b="1">
                <a:solidFill>
                  <a:srgbClr val="B8324B"/>
                </a:solidFill>
              </a:rPr>
              <a:t>M</a:t>
            </a:r>
          </a:p>
        </p:txBody>
      </p:sp>
      <p:sp>
        <p:nvSpPr>
          <p:cNvPr id="27" name="step-metamask-title">
            <a:extLst xmlns:a="http://schemas.openxmlformats.org/drawingml/2006/main">
              <a:ext uri="{FF2B5EF4-FFF2-40B4-BE49-F238E27FC236}">
                <a16:creationId xmlns:a16="http://schemas.microsoft.com/office/drawing/2014/main" id="{DCB7B25E-E975-412F-A180-39EBDA4F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1623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12B"/>
                </a:solidFill>
              </a:defRPr>
            </a:pPr>
            <a:r>
              <a:rPr sz="2175" b="1">
                <a:solidFill>
                  <a:srgbClr val="17212B"/>
                </a:solidFill>
              </a:rPr>
              <a:t>User signs</a:t>
            </a:r>
          </a:p>
        </p:txBody>
      </p:sp>
      <p:sp>
        <p:nvSpPr>
          <p:cNvPr id="28" name="step-metamask-body">
            <a:extLst xmlns:a="http://schemas.openxmlformats.org/drawingml/2006/main">
              <a:ext uri="{FF2B5EF4-FFF2-40B4-BE49-F238E27FC236}">
                <a16:creationId xmlns:a16="http://schemas.microsoft.com/office/drawing/2014/main" id="{58DD561D-D4A7-4217-A6E4-BBA6E2C1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581400"/>
            <a:ext cx="1905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8"/>
                </a:solidFill>
              </a:defRPr>
            </a:pPr>
            <a:r>
              <a:rPr sz="1350">
                <a:solidFill>
                  <a:srgbClr val="5D6B78"/>
                </a:solidFill>
              </a:rPr>
              <a:t>The confirmation UI comes from MetaMask or WalletConnect.</a:t>
            </a:r>
          </a:p>
        </p:txBody>
      </p:sp>
      <p:sp>
        <p:nvSpPr>
          <p:cNvPr id="29" name="arrow-mark-four">
            <a:extLst xmlns:a="http://schemas.openxmlformats.org/drawingml/2006/main">
              <a:ext uri="{FF2B5EF4-FFF2-40B4-BE49-F238E27FC236}">
                <a16:creationId xmlns:a16="http://schemas.microsoft.com/office/drawing/2014/main" id="{FEBB9F6D-ED43-4A47-809F-4E4A3117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409950"/>
            <a:ext cx="55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C7D8A"/>
                </a:solidFill>
              </a:defRPr>
            </a:pPr>
            <a:r>
              <a:rPr sz="2250" b="1">
                <a:solidFill>
                  <a:srgbClr val="6C7D8A"/>
                </a:solidFill>
              </a:rPr>
              <a:t>-&gt;</a:t>
            </a:r>
          </a:p>
        </p:txBody>
      </p:sp>
      <p:sp>
        <p:nvSpPr>
          <p:cNvPr id="30" name="step-direct">
            <a:extLst xmlns:a="http://schemas.openxmlformats.org/drawingml/2006/main">
              <a:ext uri="{FF2B5EF4-FFF2-40B4-BE49-F238E27FC236}">
                <a16:creationId xmlns:a16="http://schemas.microsoft.com/office/drawing/2014/main" id="{015E8BD4-E48C-4F4B-8891-C1A77E6A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2190750"/>
            <a:ext cx="2343150" cy="2705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E9E5"/>
            </a:solidFill>
            <a:prstDash val="solid"/>
          </a:ln>
        </p:spPr>
      </p:sp>
      <p:sp>
        <p:nvSpPr>
          <p:cNvPr id="31" name="badge-$">
            <a:extLst xmlns:a="http://schemas.openxmlformats.org/drawingml/2006/main">
              <a:ext uri="{FF2B5EF4-FFF2-40B4-BE49-F238E27FC236}">
                <a16:creationId xmlns:a16="http://schemas.microsoft.com/office/drawing/2014/main" id="{8EE1B101-EDE6-458B-9CDA-5C4240EC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24003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0">
            <a:solidFill>
              <a:srgbClr val="E8FAF8"/>
            </a:solidFill>
            <a:prstDash val="solid"/>
          </a:ln>
        </p:spPr>
      </p:sp>
      <p:sp>
        <p:nvSpPr>
          <p:cNvPr id="32" name="badge-text-$">
            <a:extLst xmlns:a="http://schemas.openxmlformats.org/drawingml/2006/main">
              <a:ext uri="{FF2B5EF4-FFF2-40B4-BE49-F238E27FC236}">
                <a16:creationId xmlns:a16="http://schemas.microsoft.com/office/drawing/2014/main" id="{24C3B430-B44E-44EA-9B1A-A61339AF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609850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78"/>
                </a:solidFill>
              </a:defRPr>
            </a:pPr>
            <a:r>
              <a:rPr sz="1500" b="1">
                <a:solidFill>
                  <a:srgbClr val="087E78"/>
                </a:solidFill>
              </a:rPr>
              <a:t>$</a:t>
            </a:r>
          </a:p>
        </p:txBody>
      </p:sp>
      <p:sp>
        <p:nvSpPr>
          <p:cNvPr id="33" name="step-direct-title">
            <a:extLst xmlns:a="http://schemas.openxmlformats.org/drawingml/2006/main">
              <a:ext uri="{FF2B5EF4-FFF2-40B4-BE49-F238E27FC236}">
                <a16:creationId xmlns:a16="http://schemas.microsoft.com/office/drawing/2014/main" id="{B6F39EC7-6EF8-463F-84A0-E3D16DF7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31623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12B"/>
                </a:solidFill>
              </a:defRPr>
            </a:pPr>
            <a:r>
              <a:rPr sz="2175" b="1">
                <a:solidFill>
                  <a:srgbClr val="17212B"/>
                </a:solidFill>
              </a:rPr>
              <a:t>Direct transfer</a:t>
            </a:r>
          </a:p>
        </p:txBody>
      </p:sp>
      <p:sp>
        <p:nvSpPr>
          <p:cNvPr id="34" name="step-direct-body">
            <a:extLst xmlns:a="http://schemas.openxmlformats.org/drawingml/2006/main">
              <a:ext uri="{FF2B5EF4-FFF2-40B4-BE49-F238E27FC236}">
                <a16:creationId xmlns:a16="http://schemas.microsoft.com/office/drawing/2014/main" id="{201FAD54-F309-4588-A6E8-22725A9D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3581400"/>
            <a:ext cx="1905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8"/>
                </a:solidFill>
              </a:defRPr>
            </a:pPr>
            <a:r>
              <a:rPr sz="1350">
                <a:solidFill>
                  <a:srgbClr val="5D6B78"/>
                </a:solidFill>
              </a:rPr>
              <a:t>Funds move from the connected wallet to Samuel.</a:t>
            </a:r>
          </a:p>
        </p:txBody>
      </p:sp>
      <p:sp>
        <p:nvSpPr>
          <p:cNvPr id="35" name="flow-rule">
            <a:extLst xmlns:a="http://schemas.openxmlformats.org/drawingml/2006/main">
              <a:ext uri="{FF2B5EF4-FFF2-40B4-BE49-F238E27FC236}">
                <a16:creationId xmlns:a16="http://schemas.microsoft.com/office/drawing/2014/main" id="{03C4E986-32FD-4D77-A04A-1D948ACF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6D0"/>
          </a:solidFill>
          <a:ln xmlns:a="http://schemas.openxmlformats.org/drawingml/2006/main" w="0">
            <a:solidFill>
              <a:srgbClr val="B9C6D0"/>
            </a:solidFill>
            <a:prstDash val="solid"/>
          </a:ln>
        </p:spPr>
      </p:sp>
      <p:sp>
        <p:nvSpPr>
          <p:cNvPr id="36" name="riva-owns-label">
            <a:extLst xmlns:a="http://schemas.openxmlformats.org/drawingml/2006/main">
              <a:ext uri="{FF2B5EF4-FFF2-40B4-BE49-F238E27FC236}">
                <a16:creationId xmlns:a16="http://schemas.microsoft.com/office/drawing/2014/main" id="{A1B3B64E-DEFE-42F3-9FDF-2386AE12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71500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Riva owns</a:t>
            </a:r>
          </a:p>
        </p:txBody>
      </p:sp>
      <p:sp>
        <p:nvSpPr>
          <p:cNvPr id="37" name="riva-owns-copy">
            <a:extLst xmlns:a="http://schemas.openxmlformats.org/drawingml/2006/main">
              <a:ext uri="{FF2B5EF4-FFF2-40B4-BE49-F238E27FC236}">
                <a16:creationId xmlns:a16="http://schemas.microsoft.com/office/drawing/2014/main" id="{B03FA65C-766E-4148-BE9A-A3497EDB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9626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B78"/>
                </a:solidFill>
              </a:defRPr>
            </a:pPr>
            <a:r>
              <a:rPr sz="1125">
                <a:solidFill>
                  <a:srgbClr val="5D6B78"/>
                </a:solidFill>
              </a:rPr>
              <a:t>WhatsApp identity, payment ID mapping, agent intent, and recipient lookup.</a:t>
            </a:r>
          </a:p>
        </p:txBody>
      </p:sp>
      <p:sp>
        <p:nvSpPr>
          <p:cNvPr id="38" name="turnkey-enables-label">
            <a:extLst xmlns:a="http://schemas.openxmlformats.org/drawingml/2006/main">
              <a:ext uri="{FF2B5EF4-FFF2-40B4-BE49-F238E27FC236}">
                <a16:creationId xmlns:a16="http://schemas.microsoft.com/office/drawing/2014/main" id="{08A2A1D1-0E7D-4205-88B3-1E518A7B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1500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Turnkey enables</a:t>
            </a:r>
          </a:p>
        </p:txBody>
      </p:sp>
      <p:sp>
        <p:nvSpPr>
          <p:cNvPr id="39" name="turnkey-enables-copy">
            <a:extLst xmlns:a="http://schemas.openxmlformats.org/drawingml/2006/main">
              <a:ext uri="{FF2B5EF4-FFF2-40B4-BE49-F238E27FC236}">
                <a16:creationId xmlns:a16="http://schemas.microsoft.com/office/drawing/2014/main" id="{A631E256-C565-47F9-A119-73B10DA8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9626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B78"/>
                </a:solidFill>
              </a:defRPr>
            </a:pPr>
            <a:r>
              <a:rPr sz="1125">
                <a:solidFill>
                  <a:srgbClr val="5D6B78"/>
                </a:solidFill>
              </a:rPr>
              <a:t>External wallet connection and signing abstraction using the connected wallet account.</a:t>
            </a:r>
          </a:p>
        </p:txBody>
      </p:sp>
      <p:sp>
        <p:nvSpPr>
          <p:cNvPr id="40" name="wallet-owns-label">
            <a:extLst xmlns:a="http://schemas.openxmlformats.org/drawingml/2006/main">
              <a:ext uri="{FF2B5EF4-FFF2-40B4-BE49-F238E27FC236}">
                <a16:creationId xmlns:a16="http://schemas.microsoft.com/office/drawing/2014/main" id="{195485CB-43AD-45B9-87C5-267E4F8D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71500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B78"/>
                </a:solidFill>
              </a:defRPr>
            </a:pPr>
            <a:r>
              <a:rPr sz="1275" b="1">
                <a:solidFill>
                  <a:srgbClr val="5D6B78"/>
                </a:solidFill>
              </a:rPr>
              <a:t>Wallet owns</a:t>
            </a:r>
          </a:p>
        </p:txBody>
      </p:sp>
      <p:sp>
        <p:nvSpPr>
          <p:cNvPr id="41" name="wallet-owns-copy">
            <a:extLst xmlns:a="http://schemas.openxmlformats.org/drawingml/2006/main">
              <a:ext uri="{FF2B5EF4-FFF2-40B4-BE49-F238E27FC236}">
                <a16:creationId xmlns:a16="http://schemas.microsoft.com/office/drawing/2014/main" id="{3202D39C-6988-43F6-ADF7-5D97445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9626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B78"/>
                </a:solidFill>
              </a:defRPr>
            </a:pPr>
            <a:r>
              <a:rPr sz="1125">
                <a:solidFill>
                  <a:srgbClr val="5D6B78"/>
                </a:solidFill>
              </a:rPr>
              <a:t>The native confirmation prompt, signature, and direct transaction submission.</a:t>
            </a:r>
          </a:p>
        </p:txBody>
      </p:sp>
      <p:sp>
        <p:nvSpPr>
          <p:cNvPr id="42" name="pill-BYO wallet">
            <a:extLst xmlns:a="http://schemas.openxmlformats.org/drawingml/2006/main">
              <a:ext uri="{FF2B5EF4-FFF2-40B4-BE49-F238E27FC236}">
                <a16:creationId xmlns:a16="http://schemas.microsoft.com/office/drawing/2014/main" id="{FF2E363A-7842-4FAA-82F7-05847BFF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572250"/>
            <a:ext cx="16764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  <a:prstDash val="solid"/>
          </a:ln>
        </p:spPr>
      </p:sp>
      <p:sp>
        <p:nvSpPr>
          <p:cNvPr id="43" name="pill-text-BYO wallet">
            <a:extLst xmlns:a="http://schemas.openxmlformats.org/drawingml/2006/main">
              <a:ext uri="{FF2B5EF4-FFF2-40B4-BE49-F238E27FC236}">
                <a16:creationId xmlns:a16="http://schemas.microsoft.com/office/drawing/2014/main" id="{FA67AC95-6DAC-4EBF-9F36-E7972A25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6865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56CFF"/>
                </a:solidFill>
              </a:defRPr>
            </a:pPr>
            <a:r>
              <a:rPr sz="1275" b="1">
                <a:solidFill>
                  <a:srgbClr val="356CFF"/>
                </a:solidFill>
              </a:rPr>
              <a:t>BYO wallet</a:t>
            </a:r>
          </a:p>
        </p:txBody>
      </p:sp>
      <p:sp>
        <p:nvSpPr>
          <p:cNvPr id="44" name="pill-No intermediate wallet">
            <a:extLst xmlns:a="http://schemas.openxmlformats.org/drawingml/2006/main">
              <a:ext uri="{FF2B5EF4-FFF2-40B4-BE49-F238E27FC236}">
                <a16:creationId xmlns:a16="http://schemas.microsoft.com/office/drawing/2014/main" id="{023E14A9-FC11-49C0-A95A-5F6E6906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572250"/>
            <a:ext cx="24193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EF"/>
          </a:solidFill>
          <a:ln xmlns:a="http://schemas.openxmlformats.org/drawingml/2006/main" w="0">
            <a:solidFill>
              <a:srgbClr val="E9F8EF"/>
            </a:solidFill>
            <a:prstDash val="solid"/>
          </a:ln>
        </p:spPr>
      </p:sp>
      <p:sp>
        <p:nvSpPr>
          <p:cNvPr id="45" name="pill-text-No intermediate wallet">
            <a:extLst xmlns:a="http://schemas.openxmlformats.org/drawingml/2006/main">
              <a:ext uri="{FF2B5EF4-FFF2-40B4-BE49-F238E27FC236}">
                <a16:creationId xmlns:a16="http://schemas.microsoft.com/office/drawing/2014/main" id="{051A83C3-F08D-4401-A64C-3950367D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6865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8A4F"/>
                </a:solidFill>
              </a:defRPr>
            </a:pPr>
            <a:r>
              <a:rPr sz="1275" b="1">
                <a:solidFill>
                  <a:srgbClr val="0E8A4F"/>
                </a:solidFill>
              </a:rPr>
              <a:t>No intermediate wallet</a:t>
            </a:r>
          </a:p>
        </p:txBody>
      </p:sp>
      <p:sp>
        <p:nvSpPr>
          <p:cNvPr id="46" name="pill-Wallet-native confirmation">
            <a:extLst xmlns:a="http://schemas.openxmlformats.org/drawingml/2006/main">
              <a:ext uri="{FF2B5EF4-FFF2-40B4-BE49-F238E27FC236}">
                <a16:creationId xmlns:a16="http://schemas.microsoft.com/office/drawing/2014/main" id="{C3373DF7-6D80-4C38-BF65-7B0E95EF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72250"/>
            <a:ext cx="2724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0">
            <a:solidFill>
              <a:srgbClr val="FFECEF"/>
            </a:solidFill>
            <a:prstDash val="solid"/>
          </a:ln>
        </p:spPr>
      </p:sp>
      <p:sp>
        <p:nvSpPr>
          <p:cNvPr id="47" name="pill-text-Wallet-native confirmation">
            <a:extLst xmlns:a="http://schemas.openxmlformats.org/drawingml/2006/main">
              <a:ext uri="{FF2B5EF4-FFF2-40B4-BE49-F238E27FC236}">
                <a16:creationId xmlns:a16="http://schemas.microsoft.com/office/drawing/2014/main" id="{5AB2386D-7D21-417B-A492-4ABC41CB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86550"/>
            <a:ext cx="2305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324B"/>
                </a:solidFill>
              </a:defRPr>
            </a:pPr>
            <a:r>
              <a:rPr sz="1275" b="1">
                <a:solidFill>
                  <a:srgbClr val="B8324B"/>
                </a:solidFill>
              </a:rPr>
              <a:t>Wallet-native confirmation</a:t>
            </a:r>
          </a:p>
        </p:txBody>
      </p:sp>
      <p:sp>
        <p:nvSpPr>
          <p:cNvPr id="48" name="pill-Direct transfer">
            <a:extLst xmlns:a="http://schemas.openxmlformats.org/drawingml/2006/main">
              <a:ext uri="{FF2B5EF4-FFF2-40B4-BE49-F238E27FC236}">
                <a16:creationId xmlns:a16="http://schemas.microsoft.com/office/drawing/2014/main" id="{8A53F64B-AFF8-406E-A8B2-EC0E8405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572250"/>
            <a:ext cx="19621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0">
            <a:solidFill>
              <a:srgbClr val="E8FAF8"/>
            </a:solidFill>
            <a:prstDash val="solid"/>
          </a:ln>
        </p:spPr>
      </p:sp>
      <p:sp>
        <p:nvSpPr>
          <p:cNvPr id="49" name="pill-text-Direct transfer">
            <a:extLst xmlns:a="http://schemas.openxmlformats.org/drawingml/2006/main">
              <a:ext uri="{FF2B5EF4-FFF2-40B4-BE49-F238E27FC236}">
                <a16:creationId xmlns:a16="http://schemas.microsoft.com/office/drawing/2014/main" id="{4E098E78-8599-4443-94C5-5D4EBEC3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686550"/>
            <a:ext cx="1543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E78"/>
                </a:solidFill>
              </a:defRPr>
            </a:pPr>
            <a:r>
              <a:rPr sz="1275" b="1">
                <a:solidFill>
                  <a:srgbClr val="087E78"/>
                </a:solidFill>
              </a:rPr>
              <a:t>Direct transfer</a:t>
            </a:r>
          </a:p>
        </p:txBody>
      </p:sp>
    </p:spTree>
    <p:extLst>
      <p:ext uri="{BB962C8B-B14F-4D97-AF65-F5344CB8AC3E}">
        <p14:creationId xmlns:p14="http://schemas.microsoft.com/office/powerpoint/2010/main" val="439340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2026-04-27T18:04:38.2230000Z</dcterms:created>
  <dcterms:modified xsi:type="dcterms:W3CDTF">2026-04-27T18:04:38.2230000Z</dcterms:modified>
</coreProperties>
</file>